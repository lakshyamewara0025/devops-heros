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f60337-d534-f293-994c-b9eee79bb439}">
          <p14:sldIdLst>
            <p14:sldId id="256"/>
            <p14:sldId id="257"/>
            <p14:sldId id="258"/>
            <p14:sldId id="259"/>
          </p14:sldIdLst>
        </p14:section>
        <p14:section name="Build" id="{64118f2b-f11f-2eeb-5e77-9264ce14b888}">
          <p14:sldIdLst>
            <p14:sldId id="260"/>
            <p14:sldId id="261"/>
            <p14:sldId id="262"/>
          </p14:sldIdLst>
        </p14:section>
        <p14:section name="Deliver" id="{b10520ab-4c2b-f7ee-ed75-1f1ab4aaecec}">
          <p14:sldIdLst>
            <p14:sldId id="263"/>
            <p14:sldId id="264"/>
          </p14:sldIdLst>
        </p14:section>
        <p14:section name="Run" id="{b5ea00eb-954e-01c5-a910-a5c4c4492ae8}">
          <p14:sldIdLst>
            <p14:sldId id="265"/>
            <p14:sldId id="266"/>
            <p14:sldId id="267"/>
            <p14:sldId id="268"/>
          </p14:sldIdLst>
        </p14:section>
        <p14:section name="Wrap-up" id="{7a81aea2-eb74-7990-1d05-57e7c67598c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C24"/>
                </a:solidFill>
                <a:latin typeface="+mn-lt"/>
              </a:defRPr>
            </a:pPr>
            <a:r>
              <a:rPr sz="1400" b="0" i="0" u="none" strike="noStrike">
                <a:solidFill>
                  <a:srgbClr val="0F1C24"/>
                </a:solidFill>
                <a:latin typeface="+mn-lt"/>
              </a:rPr>
              <a:t>Job duration, first pipeline run (seconds)</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0F766E"/>
            </a:solidFill>
            <a:effectLst/>
          </c:spPr>
          <c:invertIfNegative val="0"/>
          <c:dLbls>
            <c:numFmt formatCode="0&quot;s&quot;" sourceLinked="0"/>
            <c:txPr>
              <a:bodyPr/>
              <a:lstStyle/>
              <a:p>
                <a:pPr>
                  <a:defRPr b="0" i="0" strike="noStrike" sz="1200" u="none">
                    <a:solidFill>
                      <a:srgbClr val="14202B"/>
                    </a:solidFill>
                    <a:latin typeface="+mn-lt"/>
                  </a:defRPr>
                </a:pPr>
              </a:p>
            </c:txPr>
            <c:showLegendKey val="0"/>
            <c:showVal val="1"/>
            <c:showCatName val="0"/>
            <c:showSerName val="0"/>
            <c:showPercent val="0"/>
            <c:showBubbleSize val="0"/>
            <c:showLeaderLines val="0"/>
          </c:dLbls>
          <c:cat>
            <c:multiLvlStrRef>
              <c:f>Sheet1!$A$2:$A$10</c:f>
              <c:multiLvlStrCache>
                <c:ptCount val="9"/>
                <c:lvl>
                  <c:pt idx="0">
                    <c:v>pytest</c:v>
                  </c:pt>
                  <c:pt idx="1">
                    <c:v>Migrations on Postgres</c:v>
                  </c:pt>
                  <c:pt idx="2">
                    <c:v>Frontend build</c:v>
                  </c:pt>
                  <c:pt idx="3">
                    <c:v>Gitleaks + Bandit</c:v>
                  </c:pt>
                  <c:pt idx="4">
                    <c:v>Build + Trivy: backend</c:v>
                  </c:pt>
                  <c:pt idx="5">
                    <c:v>Build + Trivy: frontend</c:v>
                  </c:pt>
                  <c:pt idx="6">
                    <c:v>Push backend to GHCR</c:v>
                  </c:pt>
                  <c:pt idx="7">
                    <c:v>Push frontend to GHCR</c:v>
                  </c:pt>
                  <c:pt idx="8">
                    <c:v>Helm deploy + smoke test</c:v>
                  </c:pt>
                </c:lvl>
              </c:multiLvlStrCache>
            </c:multiLvlStrRef>
          </c:cat>
          <c:val>
            <c:numRef>
              <c:f>Sheet1!$B$2:$B$10</c:f>
              <c:numCache>
                <c:formatCode>General</c:formatCode>
                <c:ptCount val="9"/>
                <c:pt idx="0">
                  <c:v>20</c:v>
                </c:pt>
                <c:pt idx="1">
                  <c:v>26</c:v>
                </c:pt>
                <c:pt idx="2">
                  <c:v>16</c:v>
                </c:pt>
                <c:pt idx="3">
                  <c:v>8</c:v>
                </c:pt>
                <c:pt idx="4">
                  <c:v>42</c:v>
                </c:pt>
                <c:pt idx="5">
                  <c:v>27</c:v>
                </c:pt>
                <c:pt idx="6">
                  <c:v>32</c:v>
                </c:pt>
                <c:pt idx="7">
                  <c:v>17</c:v>
                </c:pt>
                <c:pt idx="8">
                  <c:v>94</c:v>
                </c:pt>
              </c:numCache>
            </c:numRef>
          </c:val>
        </c:ser>
        <c:dLbls>
          <c:numFmt formatCode="0&quot;s&quot;" sourceLinked="0"/>
          <c:txPr>
            <a:bodyPr/>
            <a:lstStyle/>
            <a:p>
              <a:pPr>
                <a:defRPr b="0" i="0" strike="noStrike" sz="1200" u="none">
                  <a:solidFill>
                    <a:srgbClr val="1420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C24"/>
                </a:solidFill>
                <a:latin typeface="+mn-lt"/>
              </a:defRPr>
            </a:pPr>
            <a:r>
              <a:rPr sz="1400" b="0" i="0" u="none" strike="noStrike">
                <a:solidFill>
                  <a:srgbClr val="0F1C24"/>
                </a:solidFill>
                <a:latin typeface="+mn-lt"/>
              </a:rPr>
              <a:t>Backend CPU, % of the 60% target</a:t>
            </a:r>
          </a:p>
        </c:rich>
      </c:tx>
      <c:layout/>
      <c:overlay val="0"/>
    </c:title>
    <c:autoTitleDeleted val="0"/>
    <c:plotArea>
      <c:layout/>
      <c:lineChart>
        <c:varyColors val="0"/>
        <c:ser>
          <c:idx val="0"/>
          <c:order val="0"/>
          <c:tx>
            <c:strRef>
              <c:f>Sheet1!$B$1</c:f>
              <c:strCache>
                <c:ptCount val="1"/>
                <c:pt idx="0">
                  <c:v>CPU % of target</c:v>
                </c:pt>
              </c:strCache>
            </c:strRef>
          </c:tx>
          <c:spPr>
            <a:solidFill>
              <a:srgbClr val="0F766E"/>
            </a:solidFill>
            <a:ln w="31750" cap="flat">
              <a:solidFill>
                <a:srgbClr val="0F766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66E"/>
              </a:solidFill>
              <a:ln w="9525" cap="flat">
                <a:solidFill>
                  <a:srgbClr val="0F766E"/>
                </a:solidFill>
                <a:prstDash val="solid"/>
                <a:round/>
              </a:ln>
              <a:effectLst/>
            </c:spPr>
          </c:marker>
          <c:cat>
            <c:multiLvlStrRef>
              <c:f>Sheet1!$A$2:$A$31</c:f>
              <c:multiLvlStrCache>
                <c:ptCount val="30"/>
                <c:lvl>
                  <c:pt idx="0">
                    <c:v>13:44</c:v>
                  </c:pt>
                  <c:pt idx="1">
                    <c:v/>
                  </c:pt>
                  <c:pt idx="2">
                    <c:v/>
                  </c:pt>
                  <c:pt idx="3">
                    <c:v>13:45</c:v>
                  </c:pt>
                  <c:pt idx="4">
                    <c:v/>
                  </c:pt>
                  <c:pt idx="5">
                    <c:v/>
                  </c:pt>
                  <c:pt idx="6">
                    <c:v/>
                  </c:pt>
                  <c:pt idx="7">
                    <c:v>13:46</c:v>
                  </c:pt>
                  <c:pt idx="8">
                    <c:v/>
                  </c:pt>
                  <c:pt idx="9">
                    <c:v/>
                  </c:pt>
                  <c:pt idx="10">
                    <c:v/>
                  </c:pt>
                  <c:pt idx="11">
                    <c:v>13:47</c:v>
                  </c:pt>
                  <c:pt idx="12">
                    <c:v/>
                  </c:pt>
                  <c:pt idx="13">
                    <c:v/>
                  </c:pt>
                  <c:pt idx="14">
                    <c:v/>
                  </c:pt>
                  <c:pt idx="15">
                    <c:v>13:48</c:v>
                  </c:pt>
                  <c:pt idx="16">
                    <c:v/>
                  </c:pt>
                  <c:pt idx="17">
                    <c:v/>
                  </c:pt>
                  <c:pt idx="18">
                    <c:v>13:49</c:v>
                  </c:pt>
                  <c:pt idx="19">
                    <c:v/>
                  </c:pt>
                  <c:pt idx="20">
                    <c:v/>
                  </c:pt>
                  <c:pt idx="21">
                    <c:v/>
                  </c:pt>
                  <c:pt idx="22">
                    <c:v>13:50</c:v>
                  </c:pt>
                  <c:pt idx="23">
                    <c:v/>
                  </c:pt>
                  <c:pt idx="24">
                    <c:v/>
                  </c:pt>
                  <c:pt idx="25">
                    <c:v/>
                  </c:pt>
                  <c:pt idx="26">
                    <c:v>13:51</c:v>
                  </c:pt>
                  <c:pt idx="27">
                    <c:v/>
                  </c:pt>
                  <c:pt idx="28">
                    <c:v/>
                  </c:pt>
                  <c:pt idx="29">
                    <c:v/>
                  </c:pt>
                </c:lvl>
              </c:multiLvlStrCache>
            </c:multiLvlStrRef>
          </c:cat>
          <c:val>
            <c:numRef>
              <c:f>Sheet1!$B$2:$B$31</c:f>
              <c:numCache>
                <c:formatCode>General</c:formatCode>
                <c:ptCount val="30"/>
                <c:pt idx="0">
                  <c:v>11</c:v>
                </c:pt>
                <c:pt idx="1">
                  <c:v>11</c:v>
                </c:pt>
                <c:pt idx="2">
                  <c:v>580</c:v>
                </c:pt>
                <c:pt idx="3">
                  <c:v>538</c:v>
                </c:pt>
                <c:pt idx="4">
                  <c:v>409</c:v>
                </c:pt>
                <c:pt idx="5">
                  <c:v>522</c:v>
                </c:pt>
                <c:pt idx="6">
                  <c:v>518</c:v>
                </c:pt>
                <c:pt idx="7">
                  <c:v>483</c:v>
                </c:pt>
                <c:pt idx="8">
                  <c:v>510</c:v>
                </c:pt>
                <c:pt idx="9">
                  <c:v>496</c:v>
                </c:pt>
                <c:pt idx="10">
                  <c:v>506</c:v>
                </c:pt>
                <c:pt idx="11">
                  <c:v>523</c:v>
                </c:pt>
                <c:pt idx="12">
                  <c:v>476</c:v>
                </c:pt>
                <c:pt idx="13">
                  <c:v>484</c:v>
                </c:pt>
                <c:pt idx="14">
                  <c:v>473</c:v>
                </c:pt>
                <c:pt idx="15">
                  <c:v>481</c:v>
                </c:pt>
                <c:pt idx="16">
                  <c:v>514</c:v>
                </c:pt>
                <c:pt idx="17">
                  <c:v>511</c:v>
                </c:pt>
                <c:pt idx="18">
                  <c:v>455</c:v>
                </c:pt>
                <c:pt idx="19">
                  <c:v>496</c:v>
                </c:pt>
                <c:pt idx="20">
                  <c:v>469</c:v>
                </c:pt>
                <c:pt idx="21">
                  <c:v>163</c:v>
                </c:pt>
                <c:pt idx="22">
                  <c:v>10</c:v>
                </c:pt>
                <c:pt idx="23">
                  <c:v>10</c:v>
                </c:pt>
                <c:pt idx="24">
                  <c:v>10</c:v>
                </c:pt>
                <c:pt idx="25">
                  <c:v>11</c:v>
                </c:pt>
                <c:pt idx="26">
                  <c:v>9</c:v>
                </c:pt>
                <c:pt idx="27">
                  <c:v>12</c:v>
                </c:pt>
                <c:pt idx="28">
                  <c:v>11</c:v>
                </c:pt>
                <c:pt idx="29">
                  <c:v>11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6350" cap="flat">
              <a:solidFill>
                <a:srgbClr val="DC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C24"/>
                </a:solidFill>
                <a:latin typeface="+mn-lt"/>
              </a:defRPr>
            </a:pPr>
            <a:r>
              <a:rPr sz="1400" b="0" i="0" u="none" strike="noStrike">
                <a:solidFill>
                  <a:srgbClr val="0F1C24"/>
                </a:solidFill>
                <a:latin typeface="+mn-lt"/>
              </a:rPr>
              <a:t>Ready backend pods</a:t>
            </a:r>
          </a:p>
        </c:rich>
      </c:tx>
      <c:layout/>
      <c:overlay val="0"/>
    </c:title>
    <c:autoTitleDeleted val="0"/>
    <c:plotArea>
      <c:layout/>
      <c:lineChart>
        <c:varyColors val="0"/>
        <c:ser>
          <c:idx val="0"/>
          <c:order val="0"/>
          <c:tx>
            <c:strRef>
              <c:f>Sheet1!$B$1</c:f>
              <c:strCache>
                <c:ptCount val="1"/>
                <c:pt idx="0">
                  <c:v>Ready backend pods</c:v>
                </c:pt>
              </c:strCache>
            </c:strRef>
          </c:tx>
          <c:spPr>
            <a:solidFill>
              <a:srgbClr val="B45309"/>
            </a:solidFill>
            <a:ln w="31750" cap="flat">
              <a:solidFill>
                <a:srgbClr val="B45309"/>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45309"/>
              </a:solidFill>
              <a:ln w="9525" cap="flat">
                <a:solidFill>
                  <a:srgbClr val="B45309"/>
                </a:solidFill>
                <a:prstDash val="solid"/>
                <a:round/>
              </a:ln>
              <a:effectLst/>
            </c:spPr>
          </c:marker>
          <c:cat>
            <c:multiLvlStrRef>
              <c:f>Sheet1!$A$2:$A$31</c:f>
              <c:multiLvlStrCache>
                <c:ptCount val="30"/>
                <c:lvl>
                  <c:pt idx="0">
                    <c:v>13:44</c:v>
                  </c:pt>
                  <c:pt idx="1">
                    <c:v/>
                  </c:pt>
                  <c:pt idx="2">
                    <c:v/>
                  </c:pt>
                  <c:pt idx="3">
                    <c:v>13:45</c:v>
                  </c:pt>
                  <c:pt idx="4">
                    <c:v/>
                  </c:pt>
                  <c:pt idx="5">
                    <c:v/>
                  </c:pt>
                  <c:pt idx="6">
                    <c:v/>
                  </c:pt>
                  <c:pt idx="7">
                    <c:v>13:46</c:v>
                  </c:pt>
                  <c:pt idx="8">
                    <c:v/>
                  </c:pt>
                  <c:pt idx="9">
                    <c:v/>
                  </c:pt>
                  <c:pt idx="10">
                    <c:v/>
                  </c:pt>
                  <c:pt idx="11">
                    <c:v>13:47</c:v>
                  </c:pt>
                  <c:pt idx="12">
                    <c:v/>
                  </c:pt>
                  <c:pt idx="13">
                    <c:v/>
                  </c:pt>
                  <c:pt idx="14">
                    <c:v/>
                  </c:pt>
                  <c:pt idx="15">
                    <c:v>13:48</c:v>
                  </c:pt>
                  <c:pt idx="16">
                    <c:v/>
                  </c:pt>
                  <c:pt idx="17">
                    <c:v/>
                  </c:pt>
                  <c:pt idx="18">
                    <c:v>13:49</c:v>
                  </c:pt>
                  <c:pt idx="19">
                    <c:v/>
                  </c:pt>
                  <c:pt idx="20">
                    <c:v/>
                  </c:pt>
                  <c:pt idx="21">
                    <c:v/>
                  </c:pt>
                  <c:pt idx="22">
                    <c:v>13:50</c:v>
                  </c:pt>
                  <c:pt idx="23">
                    <c:v/>
                  </c:pt>
                  <c:pt idx="24">
                    <c:v/>
                  </c:pt>
                  <c:pt idx="25">
                    <c:v/>
                  </c:pt>
                  <c:pt idx="26">
                    <c:v>13:51</c:v>
                  </c:pt>
                  <c:pt idx="27">
                    <c:v/>
                  </c:pt>
                  <c:pt idx="28">
                    <c:v/>
                  </c:pt>
                  <c:pt idx="29">
                    <c:v/>
                  </c:pt>
                </c:lvl>
              </c:multiLvlStrCache>
            </c:multiLvlStrRef>
          </c:cat>
          <c:val>
            <c:numRef>
              <c:f>Sheet1!$B$2:$B$31</c:f>
              <c:numCache>
                <c:formatCode>General</c:formatCode>
                <c:ptCount val="30"/>
                <c:pt idx="0">
                  <c:v>2</c:v>
                </c:pt>
                <c:pt idx="1">
                  <c:v>2</c:v>
                </c:pt>
                <c:pt idx="2">
                  <c:v>2</c:v>
                </c:pt>
                <c:pt idx="3">
                  <c:v>2</c:v>
                </c:pt>
                <c:pt idx="4">
                  <c:v>6</c:v>
                </c:pt>
                <c:pt idx="5">
                  <c:v>6</c:v>
                </c:pt>
                <c:pt idx="6">
                  <c:v>6</c:v>
                </c:pt>
                <c:pt idx="7">
                  <c:v>6</c:v>
                </c:pt>
                <c:pt idx="8">
                  <c:v>6</c:v>
                </c:pt>
                <c:pt idx="9">
                  <c:v>6</c:v>
                </c:pt>
                <c:pt idx="10">
                  <c:v>6</c:v>
                </c:pt>
                <c:pt idx="11">
                  <c:v>6</c:v>
                </c:pt>
                <c:pt idx="12">
                  <c:v>6</c:v>
                </c:pt>
                <c:pt idx="13">
                  <c:v>6</c:v>
                </c:pt>
                <c:pt idx="14">
                  <c:v>6</c:v>
                </c:pt>
                <c:pt idx="15">
                  <c:v>6</c:v>
                </c:pt>
                <c:pt idx="16">
                  <c:v>6</c:v>
                </c:pt>
                <c:pt idx="17">
                  <c:v>6</c:v>
                </c:pt>
                <c:pt idx="18">
                  <c:v>6</c:v>
                </c:pt>
                <c:pt idx="19">
                  <c:v>6</c:v>
                </c:pt>
                <c:pt idx="20">
                  <c:v>6</c:v>
                </c:pt>
                <c:pt idx="21">
                  <c:v>6</c:v>
                </c:pt>
                <c:pt idx="22">
                  <c:v>6</c:v>
                </c:pt>
                <c:pt idx="23">
                  <c:v>6</c:v>
                </c:pt>
                <c:pt idx="24">
                  <c:v>6</c:v>
                </c:pt>
                <c:pt idx="25">
                  <c:v>2</c:v>
                </c:pt>
                <c:pt idx="26">
                  <c:v>2</c:v>
                </c:pt>
                <c:pt idx="27">
                  <c:v>2</c:v>
                </c:pt>
                <c:pt idx="28">
                  <c:v>2</c:v>
                </c:pt>
                <c:pt idx="29">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6350" cap="flat">
              <a:solidFill>
                <a:srgbClr val="DCE3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Lakshya Mewara, enrollment 24BCS10290. This is my Session 21 DevOps capstone: StockPilot, an inventory-management application. I'll show how it goes from code on my laptop through tests, security scanning and a container registry, onto Kubernetes with Helm, autoscaling and monitoring, with the AWS network and EKS cluster defined in Terraform.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StockPilot keeps a product catalogue with SKUs, prices and reorder levels. Staff receive and issue stock, and every change is written to an audit trail, so stock can never go negative. Products at or below their reorder level are flagged, both in the dashboard and as a Prometheus alert. The UI is responsive: on a phone the table turns into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lanes. Delivery: I push to GitHub, GitHub Actions tests, scans and builds two images, and pushes them to GitHub Container Registry tagged with the commit SHA. Run: a Helm chart deploys the frontend, the backend and PostgreSQL on Kubernetes, behind one Ingress hostname. Infrastructure and observability: Terraform builds the AWS network and the EKS cluster, and Prometheus with Grafana watch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tools, layer by layer: React and Vite for the UI, FastAPI and PostgreSQL with Alembic migrations for the backend, pytest for tests, Docker for both images, GitHub Actions for CI/CD with Trivy as the security gate, Terraform for AWS, Kubernetes and Helm to run it, and Prometheus with Grafana to monitor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ten REST endpoints with full create, read, update and delete, plus a stock-adjust endpoint that records every movement. The schema is managed by two Alembic migrations. Every backend pod runs the migrations on start, so a Postgres advisory lock makes concurrent replicas take turns. I tested that with three pods migrating an empty database at the same moment: one migrated, the other two waited and exited cleanly.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are the first gate. Twenty pytest tests cover every endpoint, at 89 percent coverage. They run against a throwaway SQLite database created by the real migrations, so the migration files are tested too and production data is never touched. In CI a second job runs the migrations on a real PostgreSQL 18 container, up, down and up again. If any test fails, the pipeline stops before an image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parts are containerised. The backend image installs dependencies in their own layer so rebuilds are fast; on start it waits for the database, applies migrations and starts uvicorn. The frontend is a multi-stage build: Node builds the React app and an unprivileged nginx image serves only the static files. Neither runs as root. One command, docker compose up build, starts all three services in the right order using health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nine jobs. Tests, the Postgres migration check, the frontend build and the secret and code scans run in parallel. Then both images are built and scanned by Trivy, pushed to GitHub Container Registry, and finally deployed with Helm to a throwaway Kubernetes cluster where a smoke test creates a product through the whole stack. All four runs were green. Images are tagged with the commit SHA, and the image that passed the scan is the one pushed, without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scanning is a real gate, not a report. The first frontend build failed it: Trivy found a high-severity vulnerability in libtiff, which comes with the nginx base image, and a fixed package was available, so the job exited with code 1 and nothing was pushed. Adding apk upgrade to the runtime stage pulled the fix, and both images now pass with zero fixable high or critical findings. Gitleaks, Bandit and npm audit cover secrets, Python code and frontend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Terraform defines the AWS side in the Mumbai region: a VPC across two availability zones with public and private subnets, a NAT gateway, IAM roles, and an EKS cluster with a managed node group of two t3.medium nodes in the private subnets. One plan created twenty-two resources in about eleven and a half minutes. Here is the cluster Active in the AWS console, and the VPC with its four subnets. I then ran terraform destroy and checked through the AWS API that nothing was left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Helm chart deploys the whole application. The Ingress sends slash to the frontend and slash api to the backend. Both run as Deployments with two replicas and health probes; the backend has a Horizontal Pod Autoscaler. PostgreSQL runs as a StatefulSet with a persistent volume. The chart also ships disruption budgets and the monitoring objects, and it lints cleanly with the dev, default and prod values. Prod points at an external database instead of an in-cluster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autoscaler under five minutes of real load through the Ingress, sampled every fifteen seconds. CPU jumped to almost six times the target, the HPA scaled the backend from two to six pods, and all six were ready within about thirty seconds. When the load stopped, it scaled back to two about seventy-five seconds later. At six pods my single-node cluster was at 96 percent CPU, which shows the HPA's limit: it adds pods, not machines. On EKS, a cluster autoscaler would add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monitoring, the backend exposes HTTP metrics and business gauges such as inventory value and products to reorder, read live from the database. A ServiceMonitor tells Prometheus to scrape every backend pod; during the load test all six were up. There are five alert rules, including a business alert for products below their reorder level. The Grafana dashboard ships inside the Helm chart, and this is it after the load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troubleshooting lab has two deliberately broken deployments. In the first, pods sit in ImagePullBackOff; describing the pod shows the image reference was not found, the root cause is a typo in the tag, and setting the right image fixes the rollout. In the second, every pod is ready but requests to the Service fail; its EndpointSlice is empty, because the selector has a typo and matches no pod. Patching the selector brings back two endpoints and HTTP 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things I learned. Deploying finds problems tests miss: my migrations could not import the app inside the container, and only running docker compose showed it. Security gates need testing too: Trivy really blocked a build. Metrics need care: the default histogram buckets made the p95 latency meaningless. Check account limits before terraform apply: one AWS account had no Elastic IPs left, so I made the NAT gateway optional. And autoscaling has a ceiling: the HPA adds pods, not machines.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StockPilot end to end. For the live demo I'll make a small change, commit and push it, watch the pipeline test, scan and publish a new image tagged with the commit, then roll the cluster to that image with helm upgrade and refresh the app. Everything, including the evidence and the demo steps, is in the README in the repository.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828800"/>
            <a:ext cx="630936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154680"/>
            <a:ext cx="6035040" cy="100584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StockPilot  ·  Lakshya Mewara  ·  24BCS10290</a:t>
            </a:r>
            <a:endParaRPr lang="en-US" sz="10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3.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github.com/LAKSHYAMEWARA0025/devops-heros/tree/main/session21-capstone" TargetMode="External"/><Relationship Id="rId3" Type="http://schemas.openxmlformats.org/officeDocument/2006/relationships/hyperlink" Target="https://github.com/LAKSHYAMEWARA0025/devops-heros/tree/main/session21-capstone" TargetMode="External"/><Relationship Id="rId1" Type="http://schemas.openxmlformats.org/officeDocument/2006/relationships/image" Target="../media/image-16-1.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1"/>
          <p:cNvSpPr txBox="1"/>
          <p:nvPr/>
        </p:nvSpPr>
        <p:spPr>
          <a:xfrm>
            <a:off x="731520" y="1371600"/>
            <a:ext cx="63093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SESSION 21  ·  DEVOPS FINAL CAPSTONE</a:t>
            </a:r>
            <a:endParaRPr lang="en-US" sz="1400" dirty="0"/>
          </a:p>
        </p:txBody>
      </p:sp>
      <p:sp>
        <p:nvSpPr>
          <p:cNvPr id="3" name="Text 0"/>
          <p:cNvSpPr/>
          <p:nvPr>
            <p:ph idx="100" type="title" hasCustomPrompt="1"/>
          </p:nvPr>
        </p:nvSpPr>
        <p:spPr>
          <a:xfrm>
            <a:off x="731520" y="1828800"/>
            <a:ext cx="6309360" cy="1188720"/>
          </a:xfrm>
          <a:prstGeom prst="rect">
            <a:avLst/>
          </a:prstGeom>
          <a:noFill/>
          <a:ln/>
        </p:spPr>
        <p:txBody>
          <a:bodyPr wrap="square" lIns="0" tIns="0" rIns="0" bIns="0" rtlCol="0" anchor="b"/>
          <a:lstStyle/>
          <a:p>
            <a:pPr algn="l" indent="0" marL="0">
              <a:buNone/>
            </a:pPr>
            <a:r>
              <a:rPr lang="en-US" sz="6000" b="1" dirty="0">
                <a:solidFill>
                  <a:schemeClr val="bg1"/>
                </a:solidFill>
              </a:rPr>
              <a:t>StockPilot</a:t>
            </a:r>
            <a:endParaRPr lang="en-US" sz="6000" dirty="0"/>
          </a:p>
        </p:txBody>
      </p:sp>
      <p:sp>
        <p:nvSpPr>
          <p:cNvPr id="4" name="Text 0"/>
          <p:cNvSpPr/>
          <p:nvPr>
            <p:ph idx="101" type="body" hasCustomPrompt="1"/>
          </p:nvPr>
        </p:nvSpPr>
        <p:spPr>
          <a:xfrm>
            <a:off x="731520" y="3154680"/>
            <a:ext cx="6035040" cy="1005840"/>
          </a:xfrm>
          <a:prstGeom prst="rect">
            <a:avLst/>
          </a:prstGeom>
          <a:noFill/>
          <a:ln/>
        </p:spPr>
        <p:txBody>
          <a:bodyPr wrap="square" lIns="0" tIns="0" rIns="0" bIns="0" rtlCol="0" anchor="t"/>
          <a:lstStyle/>
          <a:p>
            <a:pPr indent="0" marL="0">
              <a:buNone/>
            </a:pPr>
            <a:r>
              <a:rPr lang="en-US" sz="2200" dirty="0">
                <a:solidFill>
                  <a:schemeClr val="accent2"/>
                </a:solidFill>
              </a:rPr>
              <a:t>Inventory management, from a laptop to a monitored Kubernetes cluster on AWS</a:t>
            </a:r>
            <a:endParaRPr lang="en-US" sz="2200" dirty="0"/>
          </a:p>
        </p:txBody>
      </p:sp>
      <p:sp>
        <p:nvSpPr>
          <p:cNvPr id="5" name="name-2"/>
          <p:cNvSpPr txBox="1"/>
          <p:nvPr/>
        </p:nvSpPr>
        <p:spPr>
          <a:xfrm>
            <a:off x="731520" y="4892040"/>
            <a:ext cx="5486400" cy="4572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Lakshya Mewara</a:t>
            </a:r>
            <a:endParaRPr lang="en-US" sz="2600" dirty="0"/>
          </a:p>
        </p:txBody>
      </p:sp>
      <p:sp>
        <p:nvSpPr>
          <p:cNvPr id="6" name="enrolment-3"/>
          <p:cNvSpPr txBox="1"/>
          <p:nvPr/>
        </p:nvSpPr>
        <p:spPr>
          <a:xfrm>
            <a:off x="731520" y="5394960"/>
            <a:ext cx="5486400" cy="365760"/>
          </a:xfrm>
          <a:prstGeom prst="rect">
            <a:avLst/>
          </a:prstGeom>
          <a:noFill/>
          <a:ln/>
        </p:spPr>
        <p:txBody>
          <a:bodyPr wrap="square" lIns="0" tIns="0" rIns="0" bIns="0" rtlCol="0" anchor="t"/>
          <a:lstStyle/>
          <a:p>
            <a:pPr indent="0" marL="0">
              <a:buNone/>
            </a:pPr>
            <a:r>
              <a:rPr lang="en-US" sz="1600" dirty="0">
                <a:solidFill>
                  <a:schemeClr val="bg2"/>
                </a:solidFill>
              </a:rPr>
              <a:t>Enrollment 24BCS10290</a:t>
            </a:r>
            <a:endParaRPr lang="en-US" sz="1600" dirty="0"/>
          </a:p>
        </p:txBody>
      </p:sp>
      <p:pic>
        <p:nvPicPr>
          <p:cNvPr id="7" name="screenshot-4" descr="/work/img/dashboard.png">    </p:cNvPr>
          <p:cNvPicPr>
            <a:picLocks noChangeAspect="1"/>
          </p:cNvPicPr>
          <p:nvPr/>
        </p:nvPicPr>
        <p:blipFill>
          <a:blip r:embed="rId1"/>
          <a:stretch>
            <a:fillRect/>
          </a:stretch>
        </p:blipFill>
        <p:spPr>
          <a:xfrm>
            <a:off x="7086600" y="1188720"/>
            <a:ext cx="4526280" cy="3145536"/>
          </a:xfrm>
          <a:prstGeom prst="rect">
            <a:avLst/>
          </a:prstGeom>
          <a:effectLst>
            <a:outerShdw sx="100000" sy="100000" kx="0" ky="0" algn="bl" rotWithShape="0" blurRad="101600" dist="25400" dir="5400000">
              <a:srgbClr val="0F1C24">
                <a:alpha val="18000"/>
              </a:srgbClr>
            </a:outerShdw>
          </a:effectLst>
        </p:spPr>
      </p:pic>
      <p:pic>
        <p:nvPicPr>
          <p:cNvPr id="8" name="screenshot-5" descr="/work/img/mobile.png">    </p:cNvPr>
          <p:cNvPicPr>
            <a:picLocks noChangeAspect="1"/>
          </p:cNvPicPr>
          <p:nvPr/>
        </p:nvPicPr>
        <p:blipFill>
          <a:blip r:embed="rId2"/>
          <a:stretch>
            <a:fillRect/>
          </a:stretch>
        </p:blipFill>
        <p:spPr>
          <a:xfrm>
            <a:off x="10469880" y="2743200"/>
            <a:ext cx="1261872" cy="2651760"/>
          </a:xfrm>
          <a:prstGeom prst="rect">
            <a:avLst/>
          </a:prstGeom>
          <a:effectLst>
            <a:outerShdw sx="100000" sy="100000" kx="0" ky="0" algn="bl" rotWithShape="0" blurRad="101600" dist="25400" dir="5400000">
              <a:srgbClr val="0F1C24">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StockPilot does</a:t>
            </a:r>
            <a:endParaRPr lang="en-US" sz="3600" dirty="0"/>
          </a:p>
        </p:txBody>
      </p:sp>
      <p:sp>
        <p:nvSpPr>
          <p:cNvPr id="3" name="badge-6"/>
          <p:cNvSpPr/>
          <p:nvPr/>
        </p:nvSpPr>
        <p:spPr>
          <a:xfrm>
            <a:off x="548640" y="1417320"/>
            <a:ext cx="640080" cy="640080"/>
          </a:xfrm>
          <a:prstGeom prst="ellipse">
            <a:avLst/>
          </a:prstGeom>
          <a:solidFill>
            <a:schemeClr val="accent1"/>
          </a:solidFill>
          <a:ln/>
        </p:spPr>
      </p:sp>
      <p:pic>
        <p:nvPicPr>
          <p:cNvPr id="4" name="badge-icon-7" descr="preencoded.png">    </p:cNvPr>
          <p:cNvPicPr>
            <a:picLocks noChangeAspect="1"/>
          </p:cNvPicPr>
          <p:nvPr/>
        </p:nvPicPr>
        <p:blipFill>
          <a:blip r:embed="rId1"/>
          <a:stretch>
            <a:fillRect/>
          </a:stretch>
        </p:blipFill>
        <p:spPr>
          <a:xfrm>
            <a:off x="689458" y="1558138"/>
            <a:ext cx="358445" cy="358445"/>
          </a:xfrm>
          <a:prstGeom prst="rect">
            <a:avLst/>
          </a:prstGeom>
        </p:spPr>
      </p:pic>
      <p:sp>
        <p:nvSpPr>
          <p:cNvPr id="5" name="feature-title-8"/>
          <p:cNvSpPr txBox="1"/>
          <p:nvPr/>
        </p:nvSpPr>
        <p:spPr>
          <a:xfrm>
            <a:off x="1417320" y="1399032"/>
            <a:ext cx="4297680" cy="365760"/>
          </a:xfrm>
          <a:prstGeom prst="rect">
            <a:avLst/>
          </a:prstGeom>
          <a:noFill/>
          <a:ln/>
        </p:spPr>
        <p:txBody>
          <a:bodyPr wrap="square" lIns="0" tIns="0" rIns="0" bIns="0" rtlCol="0" anchor="t"/>
          <a:lstStyle/>
          <a:p>
            <a:pPr indent="0" marL="0">
              <a:buNone/>
            </a:pPr>
            <a:r>
              <a:rPr lang="en-US" sz="1800" b="1" dirty="0">
                <a:solidFill>
                  <a:schemeClr val="tx2"/>
                </a:solidFill>
              </a:rPr>
              <a:t>Product catalogue</a:t>
            </a:r>
            <a:endParaRPr lang="en-US" sz="1800" dirty="0"/>
          </a:p>
        </p:txBody>
      </p:sp>
      <p:sp>
        <p:nvSpPr>
          <p:cNvPr id="6" name="feature-text-9"/>
          <p:cNvSpPr txBox="1"/>
          <p:nvPr/>
        </p:nvSpPr>
        <p:spPr>
          <a:xfrm>
            <a:off x="1417320" y="1783080"/>
            <a:ext cx="4297680" cy="594360"/>
          </a:xfrm>
          <a:prstGeom prst="rect">
            <a:avLst/>
          </a:prstGeom>
          <a:noFill/>
          <a:ln/>
        </p:spPr>
        <p:txBody>
          <a:bodyPr wrap="square" lIns="0" tIns="0" rIns="0" bIns="0" rtlCol="0" anchor="t"/>
          <a:lstStyle/>
          <a:p>
            <a:pPr indent="0" marL="0">
              <a:buNone/>
            </a:pPr>
            <a:r>
              <a:rPr lang="en-US" sz="1400" dirty="0">
                <a:solidFill>
                  <a:schemeClr val="accent4"/>
                </a:solidFill>
              </a:rPr>
              <a:t>SKU, category, unit price and a reorder level for every product</a:t>
            </a:r>
            <a:endParaRPr lang="en-US" sz="1400" dirty="0"/>
          </a:p>
        </p:txBody>
      </p:sp>
      <p:sp>
        <p:nvSpPr>
          <p:cNvPr id="7" name="badge-10"/>
          <p:cNvSpPr/>
          <p:nvPr/>
        </p:nvSpPr>
        <p:spPr>
          <a:xfrm>
            <a:off x="548640" y="2606040"/>
            <a:ext cx="640080" cy="640080"/>
          </a:xfrm>
          <a:prstGeom prst="ellipse">
            <a:avLst/>
          </a:prstGeom>
          <a:solidFill>
            <a:schemeClr val="accent1"/>
          </a:solidFill>
          <a:ln/>
        </p:spPr>
      </p:sp>
      <p:pic>
        <p:nvPicPr>
          <p:cNvPr id="8" name="badge-icon-11" descr="preencoded.png">    </p:cNvPr>
          <p:cNvPicPr>
            <a:picLocks noChangeAspect="1"/>
          </p:cNvPicPr>
          <p:nvPr/>
        </p:nvPicPr>
        <p:blipFill>
          <a:blip r:embed="rId2"/>
          <a:stretch>
            <a:fillRect/>
          </a:stretch>
        </p:blipFill>
        <p:spPr>
          <a:xfrm>
            <a:off x="689458" y="2746858"/>
            <a:ext cx="358445" cy="358445"/>
          </a:xfrm>
          <a:prstGeom prst="rect">
            <a:avLst/>
          </a:prstGeom>
        </p:spPr>
      </p:pic>
      <p:sp>
        <p:nvSpPr>
          <p:cNvPr id="9" name="feature-title-12"/>
          <p:cNvSpPr txBox="1"/>
          <p:nvPr/>
        </p:nvSpPr>
        <p:spPr>
          <a:xfrm>
            <a:off x="1417320" y="2587752"/>
            <a:ext cx="4297680" cy="365760"/>
          </a:xfrm>
          <a:prstGeom prst="rect">
            <a:avLst/>
          </a:prstGeom>
          <a:noFill/>
          <a:ln/>
        </p:spPr>
        <p:txBody>
          <a:bodyPr wrap="square" lIns="0" tIns="0" rIns="0" bIns="0" rtlCol="0" anchor="t"/>
          <a:lstStyle/>
          <a:p>
            <a:pPr indent="0" marL="0">
              <a:buNone/>
            </a:pPr>
            <a:r>
              <a:rPr lang="en-US" sz="1800" b="1" dirty="0">
                <a:solidFill>
                  <a:schemeClr val="tx2"/>
                </a:solidFill>
              </a:rPr>
              <a:t>Audited stock movements</a:t>
            </a:r>
            <a:endParaRPr lang="en-US" sz="1800" dirty="0"/>
          </a:p>
        </p:txBody>
      </p:sp>
      <p:sp>
        <p:nvSpPr>
          <p:cNvPr id="10" name="feature-text-13"/>
          <p:cNvSpPr txBox="1"/>
          <p:nvPr/>
        </p:nvSpPr>
        <p:spPr>
          <a:xfrm>
            <a:off x="1417320" y="2971800"/>
            <a:ext cx="4297680" cy="594360"/>
          </a:xfrm>
          <a:prstGeom prst="rect">
            <a:avLst/>
          </a:prstGeom>
          <a:noFill/>
          <a:ln/>
        </p:spPr>
        <p:txBody>
          <a:bodyPr wrap="square" lIns="0" tIns="0" rIns="0" bIns="0" rtlCol="0" anchor="t"/>
          <a:lstStyle/>
          <a:p>
            <a:pPr indent="0" marL="0">
              <a:buNone/>
            </a:pPr>
            <a:r>
              <a:rPr lang="en-US" sz="1400" dirty="0">
                <a:solidFill>
                  <a:schemeClr val="accent4"/>
                </a:solidFill>
              </a:rPr>
              <a:t>Every stock in and out is recorded; stock can never go negative</a:t>
            </a:r>
            <a:endParaRPr lang="en-US" sz="1400" dirty="0"/>
          </a:p>
        </p:txBody>
      </p:sp>
      <p:sp>
        <p:nvSpPr>
          <p:cNvPr id="11" name="badge-14"/>
          <p:cNvSpPr/>
          <p:nvPr/>
        </p:nvSpPr>
        <p:spPr>
          <a:xfrm>
            <a:off x="548640" y="3794760"/>
            <a:ext cx="640080" cy="640080"/>
          </a:xfrm>
          <a:prstGeom prst="ellipse">
            <a:avLst/>
          </a:prstGeom>
          <a:solidFill>
            <a:schemeClr val="accent1"/>
          </a:solidFill>
          <a:ln/>
        </p:spPr>
      </p:sp>
      <p:pic>
        <p:nvPicPr>
          <p:cNvPr id="12" name="badge-icon-15" descr="preencoded.png">    </p:cNvPr>
          <p:cNvPicPr>
            <a:picLocks noChangeAspect="1"/>
          </p:cNvPicPr>
          <p:nvPr/>
        </p:nvPicPr>
        <p:blipFill>
          <a:blip r:embed="rId3"/>
          <a:stretch>
            <a:fillRect/>
          </a:stretch>
        </p:blipFill>
        <p:spPr>
          <a:xfrm>
            <a:off x="689458" y="3935578"/>
            <a:ext cx="358445" cy="358445"/>
          </a:xfrm>
          <a:prstGeom prst="rect">
            <a:avLst/>
          </a:prstGeom>
        </p:spPr>
      </p:pic>
      <p:sp>
        <p:nvSpPr>
          <p:cNvPr id="13" name="feature-title-16"/>
          <p:cNvSpPr txBox="1"/>
          <p:nvPr/>
        </p:nvSpPr>
        <p:spPr>
          <a:xfrm>
            <a:off x="1417320" y="3776472"/>
            <a:ext cx="4297680" cy="365760"/>
          </a:xfrm>
          <a:prstGeom prst="rect">
            <a:avLst/>
          </a:prstGeom>
          <a:noFill/>
          <a:ln/>
        </p:spPr>
        <p:txBody>
          <a:bodyPr wrap="square" lIns="0" tIns="0" rIns="0" bIns="0" rtlCol="0" anchor="t"/>
          <a:lstStyle/>
          <a:p>
            <a:pPr indent="0" marL="0">
              <a:buNone/>
            </a:pPr>
            <a:r>
              <a:rPr lang="en-US" sz="1800" b="1" dirty="0">
                <a:solidFill>
                  <a:schemeClr val="tx2"/>
                </a:solidFill>
              </a:rPr>
              <a:t>Reorder alerts</a:t>
            </a:r>
            <a:endParaRPr lang="en-US" sz="1800" dirty="0"/>
          </a:p>
        </p:txBody>
      </p:sp>
      <p:sp>
        <p:nvSpPr>
          <p:cNvPr id="14" name="feature-text-17"/>
          <p:cNvSpPr txBox="1"/>
          <p:nvPr/>
        </p:nvSpPr>
        <p:spPr>
          <a:xfrm>
            <a:off x="1417320" y="4160520"/>
            <a:ext cx="4297680" cy="594360"/>
          </a:xfrm>
          <a:prstGeom prst="rect">
            <a:avLst/>
          </a:prstGeom>
          <a:noFill/>
          <a:ln/>
        </p:spPr>
        <p:txBody>
          <a:bodyPr wrap="square" lIns="0" tIns="0" rIns="0" bIns="0" rtlCol="0" anchor="t"/>
          <a:lstStyle/>
          <a:p>
            <a:pPr indent="0" marL="0">
              <a:buNone/>
            </a:pPr>
            <a:r>
              <a:rPr lang="en-US" sz="1400" dirty="0">
                <a:solidFill>
                  <a:schemeClr val="accent4"/>
                </a:solidFill>
              </a:rPr>
              <a:t>Low and out-of-stock items flagged in the UI and in Prometheus</a:t>
            </a:r>
            <a:endParaRPr lang="en-US" sz="1400" dirty="0"/>
          </a:p>
        </p:txBody>
      </p:sp>
      <p:sp>
        <p:nvSpPr>
          <p:cNvPr id="15" name="badge-18"/>
          <p:cNvSpPr/>
          <p:nvPr/>
        </p:nvSpPr>
        <p:spPr>
          <a:xfrm>
            <a:off x="548640" y="4983480"/>
            <a:ext cx="640080" cy="640080"/>
          </a:xfrm>
          <a:prstGeom prst="ellipse">
            <a:avLst/>
          </a:prstGeom>
          <a:solidFill>
            <a:schemeClr val="accent1"/>
          </a:solidFill>
          <a:ln/>
        </p:spPr>
      </p:sp>
      <p:pic>
        <p:nvPicPr>
          <p:cNvPr id="16" name="badge-icon-19" descr="preencoded.png">    </p:cNvPr>
          <p:cNvPicPr>
            <a:picLocks noChangeAspect="1"/>
          </p:cNvPicPr>
          <p:nvPr/>
        </p:nvPicPr>
        <p:blipFill>
          <a:blip r:embed="rId4"/>
          <a:stretch>
            <a:fillRect/>
          </a:stretch>
        </p:blipFill>
        <p:spPr>
          <a:xfrm>
            <a:off x="689458" y="5124298"/>
            <a:ext cx="358445" cy="358445"/>
          </a:xfrm>
          <a:prstGeom prst="rect">
            <a:avLst/>
          </a:prstGeom>
        </p:spPr>
      </p:pic>
      <p:sp>
        <p:nvSpPr>
          <p:cNvPr id="17" name="feature-title-20"/>
          <p:cNvSpPr txBox="1"/>
          <p:nvPr/>
        </p:nvSpPr>
        <p:spPr>
          <a:xfrm>
            <a:off x="1417320" y="4965192"/>
            <a:ext cx="4297680" cy="365760"/>
          </a:xfrm>
          <a:prstGeom prst="rect">
            <a:avLst/>
          </a:prstGeom>
          <a:noFill/>
          <a:ln/>
        </p:spPr>
        <p:txBody>
          <a:bodyPr wrap="square" lIns="0" tIns="0" rIns="0" bIns="0" rtlCol="0" anchor="t"/>
          <a:lstStyle/>
          <a:p>
            <a:pPr indent="0" marL="0">
              <a:buNone/>
            </a:pPr>
            <a:r>
              <a:rPr lang="en-US" sz="1800" b="1" dirty="0">
                <a:solidFill>
                  <a:schemeClr val="tx2"/>
                </a:solidFill>
              </a:rPr>
              <a:t>Responsive dashboard</a:t>
            </a:r>
            <a:endParaRPr lang="en-US" sz="1800" dirty="0"/>
          </a:p>
        </p:txBody>
      </p:sp>
      <p:sp>
        <p:nvSpPr>
          <p:cNvPr id="18" name="feature-text-21"/>
          <p:cNvSpPr txBox="1"/>
          <p:nvPr/>
        </p:nvSpPr>
        <p:spPr>
          <a:xfrm>
            <a:off x="1417320" y="5349240"/>
            <a:ext cx="4297680" cy="594360"/>
          </a:xfrm>
          <a:prstGeom prst="rect">
            <a:avLst/>
          </a:prstGeom>
          <a:noFill/>
          <a:ln/>
        </p:spPr>
        <p:txBody>
          <a:bodyPr wrap="square" lIns="0" tIns="0" rIns="0" bIns="0" rtlCol="0" anchor="t"/>
          <a:lstStyle/>
          <a:p>
            <a:pPr indent="0" marL="0">
              <a:buNone/>
            </a:pPr>
            <a:r>
              <a:rPr lang="en-US" sz="1400" dirty="0">
                <a:solidFill>
                  <a:schemeClr val="accent4"/>
                </a:solidFill>
              </a:rPr>
              <a:t>KPIs, search, filters and a live activity feed on desktop and phone</a:t>
            </a:r>
            <a:endParaRPr lang="en-US" sz="1400" dirty="0"/>
          </a:p>
        </p:txBody>
      </p:sp>
      <p:pic>
        <p:nvPicPr>
          <p:cNvPr id="19" name="screenshot-22" descr="/work/img/ingress-app.png">    </p:cNvPr>
          <p:cNvPicPr>
            <a:picLocks noChangeAspect="1"/>
          </p:cNvPicPr>
          <p:nvPr/>
        </p:nvPicPr>
        <p:blipFill>
          <a:blip r:embed="rId5"/>
          <a:stretch>
            <a:fillRect/>
          </a:stretch>
        </p:blipFill>
        <p:spPr>
          <a:xfrm>
            <a:off x="6172200" y="1371600"/>
            <a:ext cx="4572000" cy="3172968"/>
          </a:xfrm>
          <a:prstGeom prst="rect">
            <a:avLst/>
          </a:prstGeom>
          <a:effectLst>
            <a:outerShdw sx="100000" sy="100000" kx="0" ky="0" algn="bl" rotWithShape="0" blurRad="101600" dist="25400" dir="5400000">
              <a:srgbClr val="0F1C24">
                <a:alpha val="18000"/>
              </a:srgbClr>
            </a:outerShdw>
          </a:effectLst>
        </p:spPr>
      </p:pic>
      <p:pic>
        <p:nvPicPr>
          <p:cNvPr id="20" name="screenshot-23" descr="/work/img/mobile.png">    </p:cNvPr>
          <p:cNvPicPr>
            <a:picLocks noChangeAspect="1"/>
          </p:cNvPicPr>
          <p:nvPr/>
        </p:nvPicPr>
        <p:blipFill>
          <a:blip r:embed="rId6"/>
          <a:stretch>
            <a:fillRect/>
          </a:stretch>
        </p:blipFill>
        <p:spPr>
          <a:xfrm>
            <a:off x="10378440" y="3063240"/>
            <a:ext cx="1280160" cy="2688336"/>
          </a:xfrm>
          <a:prstGeom prst="rect">
            <a:avLst/>
          </a:prstGeom>
          <a:effectLst>
            <a:outerShdw sx="100000" sy="100000" kx="0" ky="0" algn="bl" rotWithShape="0" blurRad="101600" dist="25400" dir="5400000">
              <a:srgbClr val="0F1C24">
                <a:alpha val="18000"/>
              </a:srgbClr>
            </a:outerShdw>
          </a:effectLst>
        </p:spPr>
      </p:pic>
      <p:sp>
        <p:nvSpPr>
          <p:cNvPr id="21" name="caption-24"/>
          <p:cNvSpPr txBox="1"/>
          <p:nvPr/>
        </p:nvSpPr>
        <p:spPr>
          <a:xfrm>
            <a:off x="6172200" y="4754880"/>
            <a:ext cx="4023360" cy="274320"/>
          </a:xfrm>
          <a:prstGeom prst="rect">
            <a:avLst/>
          </a:prstGeom>
          <a:noFill/>
          <a:ln/>
        </p:spPr>
        <p:txBody>
          <a:bodyPr wrap="square" lIns="0" tIns="0" rIns="0" bIns="0" rtlCol="0" anchor="t"/>
          <a:lstStyle/>
          <a:p>
            <a:pPr indent="0" marL="0">
              <a:buNone/>
            </a:pPr>
            <a:r>
              <a:rPr lang="en-US" sz="1200" i="1" dirty="0">
                <a:solidFill>
                  <a:schemeClr val="accent4"/>
                </a:solidFill>
              </a:rPr>
              <a:t>Running on Kubernetes, served through the Ingress</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Architecture at a glance</a:t>
            </a:r>
            <a:endParaRPr lang="en-US" sz="3600" dirty="0"/>
          </a:p>
        </p:txBody>
      </p:sp>
      <p:sp>
        <p:nvSpPr>
          <p:cNvPr id="3" name="lane-25"/>
          <p:cNvSpPr txBox="1"/>
          <p:nvPr/>
        </p:nvSpPr>
        <p:spPr>
          <a:xfrm>
            <a:off x="548640" y="1417320"/>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BUILD &amp; DELIVER</a:t>
            </a:r>
            <a:endParaRPr lang="en-US" sz="1200" dirty="0"/>
          </a:p>
        </p:txBody>
      </p:sp>
      <p:sp>
        <p:nvSpPr>
          <p:cNvPr id="4" name="box-26"/>
          <p:cNvSpPr/>
          <p:nvPr/>
        </p:nvSpPr>
        <p:spPr>
          <a:xfrm>
            <a:off x="548640" y="1783080"/>
            <a:ext cx="1645920" cy="822960"/>
          </a:xfrm>
          <a:prstGeom prst="roundRect">
            <a:avLst>
              <a:gd name="adj" fmla="val 11111"/>
            </a:avLst>
          </a:prstGeom>
          <a:solidFill>
            <a:schemeClr val="bg1"/>
          </a:solidFill>
          <a:ln w="15875">
            <a:solidFill>
              <a:srgbClr val="0F766E"/>
            </a:solidFill>
            <a:prstDash val="solid"/>
          </a:ln>
        </p:spPr>
      </p:sp>
      <p:sp>
        <p:nvSpPr>
          <p:cNvPr id="5" name="box-text-27"/>
          <p:cNvSpPr txBox="1"/>
          <p:nvPr/>
        </p:nvSpPr>
        <p:spPr>
          <a:xfrm>
            <a:off x="621792" y="1783080"/>
            <a:ext cx="1499616" cy="822960"/>
          </a:xfrm>
          <a:prstGeom prst="rect">
            <a:avLst/>
          </a:prstGeom>
          <a:noFill/>
          <a:ln/>
        </p:spPr>
        <p:txBody>
          <a:bodyPr wrap="square" lIns="0" tIns="0" rIns="0" bIns="0" rtlCol="0" anchor="ctr"/>
          <a:lstStyle/>
          <a:p>
            <a:pPr algn="ctr" indent="0" marL="0">
              <a:buNone/>
            </a:pPr>
            <a:r>
              <a:rPr lang="en-US" sz="1400" b="1" dirty="0">
                <a:solidFill>
                  <a:schemeClr val="tx2"/>
                </a:solidFill>
              </a:rPr>
              <a:t>Developer</a:t>
            </a:r>
            <a:endParaRPr lang="en-US" sz="1400" dirty="0"/>
          </a:p>
          <a:p>
            <a:pPr algn="ctr" indent="0" marL="0">
              <a:buNone/>
            </a:pPr>
            <a:r>
              <a:rPr lang="en-US" sz="1100" dirty="0">
                <a:solidFill>
                  <a:schemeClr val="accent4"/>
                </a:solidFill>
              </a:rPr>
              <a:t>git push</a:t>
            </a:r>
            <a:endParaRPr lang="en-US" sz="1400" dirty="0"/>
          </a:p>
        </p:txBody>
      </p:sp>
      <p:sp>
        <p:nvSpPr>
          <p:cNvPr id="6" name="box-28"/>
          <p:cNvSpPr/>
          <p:nvPr/>
        </p:nvSpPr>
        <p:spPr>
          <a:xfrm>
            <a:off x="2743200" y="1783080"/>
            <a:ext cx="1645920" cy="822960"/>
          </a:xfrm>
          <a:prstGeom prst="roundRect">
            <a:avLst>
              <a:gd name="adj" fmla="val 11111"/>
            </a:avLst>
          </a:prstGeom>
          <a:solidFill>
            <a:schemeClr val="bg1"/>
          </a:solidFill>
          <a:ln w="15875">
            <a:solidFill>
              <a:srgbClr val="0F766E"/>
            </a:solidFill>
            <a:prstDash val="solid"/>
          </a:ln>
        </p:spPr>
      </p:sp>
      <p:sp>
        <p:nvSpPr>
          <p:cNvPr id="7" name="box-text-29"/>
          <p:cNvSpPr txBox="1"/>
          <p:nvPr/>
        </p:nvSpPr>
        <p:spPr>
          <a:xfrm>
            <a:off x="2816352" y="1783080"/>
            <a:ext cx="1499616" cy="822960"/>
          </a:xfrm>
          <a:prstGeom prst="rect">
            <a:avLst/>
          </a:prstGeom>
          <a:noFill/>
          <a:ln/>
        </p:spPr>
        <p:txBody>
          <a:bodyPr wrap="square" lIns="0" tIns="0" rIns="0" bIns="0" rtlCol="0" anchor="ctr"/>
          <a:lstStyle/>
          <a:p>
            <a:pPr algn="ctr" indent="0" marL="0">
              <a:buNone/>
            </a:pPr>
            <a:r>
              <a:rPr lang="en-US" sz="1400" b="1" dirty="0">
                <a:solidFill>
                  <a:schemeClr val="tx2"/>
                </a:solidFill>
              </a:rPr>
              <a:t>GitHub</a:t>
            </a:r>
            <a:endParaRPr lang="en-US" sz="1400" dirty="0"/>
          </a:p>
          <a:p>
            <a:pPr algn="ctr" indent="0" marL="0">
              <a:buNone/>
            </a:pPr>
            <a:r>
              <a:rPr lang="en-US" sz="1100" dirty="0">
                <a:solidFill>
                  <a:schemeClr val="accent4"/>
                </a:solidFill>
              </a:rPr>
              <a:t>source of truth</a:t>
            </a:r>
            <a:endParaRPr lang="en-US" sz="1400" dirty="0"/>
          </a:p>
        </p:txBody>
      </p:sp>
      <p:sp>
        <p:nvSpPr>
          <p:cNvPr id="8" name="box-30"/>
          <p:cNvSpPr/>
          <p:nvPr/>
        </p:nvSpPr>
        <p:spPr>
          <a:xfrm>
            <a:off x="4937760" y="1783080"/>
            <a:ext cx="3383280" cy="822960"/>
          </a:xfrm>
          <a:prstGeom prst="roundRect">
            <a:avLst>
              <a:gd name="adj" fmla="val 11111"/>
            </a:avLst>
          </a:prstGeom>
          <a:solidFill>
            <a:schemeClr val="bg1"/>
          </a:solidFill>
          <a:ln w="15875">
            <a:solidFill>
              <a:srgbClr val="0F766E"/>
            </a:solidFill>
            <a:prstDash val="solid"/>
          </a:ln>
        </p:spPr>
      </p:sp>
      <p:sp>
        <p:nvSpPr>
          <p:cNvPr id="9" name="box-text-31"/>
          <p:cNvSpPr txBox="1"/>
          <p:nvPr/>
        </p:nvSpPr>
        <p:spPr>
          <a:xfrm>
            <a:off x="5010912" y="1783080"/>
            <a:ext cx="3236976" cy="822960"/>
          </a:xfrm>
          <a:prstGeom prst="rect">
            <a:avLst/>
          </a:prstGeom>
          <a:noFill/>
          <a:ln/>
        </p:spPr>
        <p:txBody>
          <a:bodyPr wrap="square" lIns="0" tIns="0" rIns="0" bIns="0" rtlCol="0" anchor="ctr"/>
          <a:lstStyle/>
          <a:p>
            <a:pPr algn="ctr" indent="0" marL="0">
              <a:buNone/>
            </a:pPr>
            <a:r>
              <a:rPr lang="en-US" sz="1400" b="1" dirty="0">
                <a:solidFill>
                  <a:schemeClr val="tx2"/>
                </a:solidFill>
              </a:rPr>
              <a:t>GitHub Actions</a:t>
            </a:r>
            <a:endParaRPr lang="en-US" sz="1400" dirty="0"/>
          </a:p>
          <a:p>
            <a:pPr algn="ctr" indent="0" marL="0">
              <a:buNone/>
            </a:pPr>
            <a:r>
              <a:rPr lang="en-US" sz="1100" dirty="0">
                <a:solidFill>
                  <a:schemeClr val="accent4"/>
                </a:solidFill>
              </a:rPr>
              <a:t>tests · scans · Trivy gate · build</a:t>
            </a:r>
            <a:endParaRPr lang="en-US" sz="1400" dirty="0"/>
          </a:p>
        </p:txBody>
      </p:sp>
      <p:sp>
        <p:nvSpPr>
          <p:cNvPr id="10" name="box-32"/>
          <p:cNvSpPr/>
          <p:nvPr/>
        </p:nvSpPr>
        <p:spPr>
          <a:xfrm>
            <a:off x="8869680" y="1783080"/>
            <a:ext cx="2743200" cy="822960"/>
          </a:xfrm>
          <a:prstGeom prst="roundRect">
            <a:avLst>
              <a:gd name="adj" fmla="val 11111"/>
            </a:avLst>
          </a:prstGeom>
          <a:solidFill>
            <a:schemeClr val="bg1"/>
          </a:solidFill>
          <a:ln w="15875">
            <a:solidFill>
              <a:srgbClr val="0F766E"/>
            </a:solidFill>
            <a:prstDash val="solid"/>
          </a:ln>
        </p:spPr>
      </p:sp>
      <p:sp>
        <p:nvSpPr>
          <p:cNvPr id="11" name="box-text-33"/>
          <p:cNvSpPr txBox="1"/>
          <p:nvPr/>
        </p:nvSpPr>
        <p:spPr>
          <a:xfrm>
            <a:off x="8942832" y="1783080"/>
            <a:ext cx="2596896" cy="822960"/>
          </a:xfrm>
          <a:prstGeom prst="rect">
            <a:avLst/>
          </a:prstGeom>
          <a:noFill/>
          <a:ln/>
        </p:spPr>
        <p:txBody>
          <a:bodyPr wrap="square" lIns="0" tIns="0" rIns="0" bIns="0" rtlCol="0" anchor="ctr"/>
          <a:lstStyle/>
          <a:p>
            <a:pPr algn="ctr" indent="0" marL="0">
              <a:buNone/>
            </a:pPr>
            <a:r>
              <a:rPr lang="en-US" sz="1400" b="1" dirty="0">
                <a:solidFill>
                  <a:schemeClr val="tx2"/>
                </a:solidFill>
              </a:rPr>
              <a:t>GHCR</a:t>
            </a:r>
            <a:endParaRPr lang="en-US" sz="1400" dirty="0"/>
          </a:p>
          <a:p>
            <a:pPr algn="ctr" indent="0" marL="0">
              <a:buNone/>
            </a:pPr>
            <a:r>
              <a:rPr lang="en-US" sz="1100" dirty="0">
                <a:solidFill>
                  <a:schemeClr val="accent4"/>
                </a:solidFill>
              </a:rPr>
              <a:t>image tag = commit SHA</a:t>
            </a:r>
            <a:endParaRPr lang="en-US" sz="1400" dirty="0"/>
          </a:p>
        </p:txBody>
      </p:sp>
      <p:sp>
        <p:nvSpPr>
          <p:cNvPr id="12" name="arrow-34"/>
          <p:cNvSpPr/>
          <p:nvPr/>
        </p:nvSpPr>
        <p:spPr>
          <a:xfrm>
            <a:off x="2194560" y="2194560"/>
            <a:ext cx="548640" cy="914"/>
          </a:xfrm>
          <a:prstGeom prst="line">
            <a:avLst/>
          </a:prstGeom>
          <a:noFill/>
          <a:ln w="19050">
            <a:solidFill>
              <a:srgbClr val="5B6B7A"/>
            </a:solidFill>
            <a:prstDash val="solid"/>
            <a:tailEnd type="triangle"/>
          </a:ln>
        </p:spPr>
      </p:sp>
      <p:sp>
        <p:nvSpPr>
          <p:cNvPr id="13" name="arrow-35"/>
          <p:cNvSpPr/>
          <p:nvPr/>
        </p:nvSpPr>
        <p:spPr>
          <a:xfrm>
            <a:off x="4389120" y="2194560"/>
            <a:ext cx="548640" cy="914"/>
          </a:xfrm>
          <a:prstGeom prst="line">
            <a:avLst/>
          </a:prstGeom>
          <a:noFill/>
          <a:ln w="19050">
            <a:solidFill>
              <a:srgbClr val="5B6B7A"/>
            </a:solidFill>
            <a:prstDash val="solid"/>
            <a:tailEnd type="triangle"/>
          </a:ln>
        </p:spPr>
      </p:sp>
      <p:sp>
        <p:nvSpPr>
          <p:cNvPr id="14" name="arrow-36"/>
          <p:cNvSpPr/>
          <p:nvPr/>
        </p:nvSpPr>
        <p:spPr>
          <a:xfrm>
            <a:off x="8321040" y="2194560"/>
            <a:ext cx="548640" cy="914"/>
          </a:xfrm>
          <a:prstGeom prst="line">
            <a:avLst/>
          </a:prstGeom>
          <a:noFill/>
          <a:ln w="19050">
            <a:solidFill>
              <a:srgbClr val="5B6B7A"/>
            </a:solidFill>
            <a:prstDash val="solid"/>
            <a:tailEnd type="triangle"/>
          </a:ln>
        </p:spPr>
      </p:sp>
      <p:sp>
        <p:nvSpPr>
          <p:cNvPr id="15" name="lane-37"/>
          <p:cNvSpPr txBox="1"/>
          <p:nvPr/>
        </p:nvSpPr>
        <p:spPr>
          <a:xfrm>
            <a:off x="548640" y="2926080"/>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RUN ON KUBERNETES (HELM)</a:t>
            </a:r>
            <a:endParaRPr lang="en-US" sz="1200" dirty="0"/>
          </a:p>
        </p:txBody>
      </p:sp>
      <p:sp>
        <p:nvSpPr>
          <p:cNvPr id="16" name="card-38"/>
          <p:cNvSpPr/>
          <p:nvPr/>
        </p:nvSpPr>
        <p:spPr>
          <a:xfrm>
            <a:off x="548640" y="3246120"/>
            <a:ext cx="11064240" cy="1417320"/>
          </a:xfrm>
          <a:prstGeom prst="roundRect">
            <a:avLst>
              <a:gd name="adj" fmla="val 7742"/>
            </a:avLst>
          </a:prstGeom>
          <a:solidFill>
            <a:schemeClr val="bg2"/>
          </a:solidFill>
          <a:ln/>
        </p:spPr>
      </p:sp>
      <p:sp>
        <p:nvSpPr>
          <p:cNvPr id="17" name="box-39"/>
          <p:cNvSpPr/>
          <p:nvPr/>
        </p:nvSpPr>
        <p:spPr>
          <a:xfrm>
            <a:off x="777240" y="3520440"/>
            <a:ext cx="2103120" cy="868680"/>
          </a:xfrm>
          <a:prstGeom prst="roundRect">
            <a:avLst>
              <a:gd name="adj" fmla="val 10526"/>
            </a:avLst>
          </a:prstGeom>
          <a:solidFill>
            <a:schemeClr val="bg1"/>
          </a:solidFill>
          <a:ln w="15875">
            <a:solidFill>
              <a:srgbClr val="0F766E"/>
            </a:solidFill>
            <a:prstDash val="solid"/>
          </a:ln>
        </p:spPr>
      </p:sp>
      <p:sp>
        <p:nvSpPr>
          <p:cNvPr id="18" name="box-text-40"/>
          <p:cNvSpPr txBox="1"/>
          <p:nvPr/>
        </p:nvSpPr>
        <p:spPr>
          <a:xfrm>
            <a:off x="850392" y="3520440"/>
            <a:ext cx="1956816" cy="868680"/>
          </a:xfrm>
          <a:prstGeom prst="rect">
            <a:avLst/>
          </a:prstGeom>
          <a:noFill/>
          <a:ln/>
        </p:spPr>
        <p:txBody>
          <a:bodyPr wrap="square" lIns="0" tIns="0" rIns="0" bIns="0" rtlCol="0" anchor="ctr"/>
          <a:lstStyle/>
          <a:p>
            <a:pPr algn="ctr" indent="0" marL="0">
              <a:buNone/>
            </a:pPr>
            <a:r>
              <a:rPr lang="en-US" sz="1400" b="1" dirty="0">
                <a:solidFill>
                  <a:schemeClr val="tx2"/>
                </a:solidFill>
              </a:rPr>
              <a:t>Ingress</a:t>
            </a:r>
            <a:endParaRPr lang="en-US" sz="1400" dirty="0"/>
          </a:p>
          <a:p>
            <a:pPr algn="ctr" indent="0" marL="0">
              <a:buNone/>
            </a:pPr>
            <a:r>
              <a:rPr lang="en-US" sz="1100" dirty="0">
                <a:solidFill>
                  <a:schemeClr val="accent4"/>
                </a:solidFill>
              </a:rPr>
              <a:t>stockpilot.local</a:t>
            </a:r>
            <a:endParaRPr lang="en-US" sz="1400" dirty="0"/>
          </a:p>
        </p:txBody>
      </p:sp>
      <p:sp>
        <p:nvSpPr>
          <p:cNvPr id="19" name="box-41"/>
          <p:cNvSpPr/>
          <p:nvPr/>
        </p:nvSpPr>
        <p:spPr>
          <a:xfrm>
            <a:off x="3703320" y="3383280"/>
            <a:ext cx="2468880" cy="548640"/>
          </a:xfrm>
          <a:prstGeom prst="roundRect">
            <a:avLst>
              <a:gd name="adj" fmla="val 16667"/>
            </a:avLst>
          </a:prstGeom>
          <a:solidFill>
            <a:schemeClr val="bg1"/>
          </a:solidFill>
          <a:ln w="15875">
            <a:solidFill>
              <a:srgbClr val="0F766E"/>
            </a:solidFill>
            <a:prstDash val="solid"/>
          </a:ln>
        </p:spPr>
      </p:sp>
      <p:sp>
        <p:nvSpPr>
          <p:cNvPr id="20" name="box-text-42"/>
          <p:cNvSpPr txBox="1"/>
          <p:nvPr/>
        </p:nvSpPr>
        <p:spPr>
          <a:xfrm>
            <a:off x="3776472" y="3383280"/>
            <a:ext cx="2322576" cy="548640"/>
          </a:xfrm>
          <a:prstGeom prst="rect">
            <a:avLst/>
          </a:prstGeom>
          <a:noFill/>
          <a:ln/>
        </p:spPr>
        <p:txBody>
          <a:bodyPr wrap="square" lIns="0" tIns="0" rIns="0" bIns="0" rtlCol="0" anchor="ctr"/>
          <a:lstStyle/>
          <a:p>
            <a:pPr algn="ctr" indent="0" marL="0">
              <a:buNone/>
            </a:pPr>
            <a:r>
              <a:rPr lang="en-US" sz="1400" b="1" dirty="0">
                <a:solidFill>
                  <a:schemeClr val="tx2"/>
                </a:solidFill>
              </a:rPr>
              <a:t>frontend</a:t>
            </a:r>
            <a:endParaRPr lang="en-US" sz="1400" dirty="0"/>
          </a:p>
          <a:p>
            <a:pPr algn="ctr" indent="0" marL="0">
              <a:buNone/>
            </a:pPr>
            <a:r>
              <a:rPr lang="en-US" sz="1100" dirty="0">
                <a:solidFill>
                  <a:schemeClr val="accent4"/>
                </a:solidFill>
              </a:rPr>
              <a:t>nginx · 2 pods</a:t>
            </a:r>
            <a:endParaRPr lang="en-US" sz="1400" dirty="0"/>
          </a:p>
        </p:txBody>
      </p:sp>
      <p:sp>
        <p:nvSpPr>
          <p:cNvPr id="21" name="box-43"/>
          <p:cNvSpPr/>
          <p:nvPr/>
        </p:nvSpPr>
        <p:spPr>
          <a:xfrm>
            <a:off x="3703320" y="4023360"/>
            <a:ext cx="2468880" cy="548640"/>
          </a:xfrm>
          <a:prstGeom prst="roundRect">
            <a:avLst>
              <a:gd name="adj" fmla="val 16667"/>
            </a:avLst>
          </a:prstGeom>
          <a:solidFill>
            <a:schemeClr val="bg1"/>
          </a:solidFill>
          <a:ln w="15875">
            <a:solidFill>
              <a:srgbClr val="0F766E"/>
            </a:solidFill>
            <a:prstDash val="solid"/>
          </a:ln>
        </p:spPr>
      </p:sp>
      <p:sp>
        <p:nvSpPr>
          <p:cNvPr id="22" name="box-text-44"/>
          <p:cNvSpPr txBox="1"/>
          <p:nvPr/>
        </p:nvSpPr>
        <p:spPr>
          <a:xfrm>
            <a:off x="3776472" y="4023360"/>
            <a:ext cx="2322576" cy="548640"/>
          </a:xfrm>
          <a:prstGeom prst="rect">
            <a:avLst/>
          </a:prstGeom>
          <a:noFill/>
          <a:ln/>
        </p:spPr>
        <p:txBody>
          <a:bodyPr wrap="square" lIns="0" tIns="0" rIns="0" bIns="0" rtlCol="0" anchor="ctr"/>
          <a:lstStyle/>
          <a:p>
            <a:pPr algn="ctr" indent="0" marL="0">
              <a:buNone/>
            </a:pPr>
            <a:r>
              <a:rPr lang="en-US" sz="1400" b="1" dirty="0">
                <a:solidFill>
                  <a:schemeClr val="tx2"/>
                </a:solidFill>
              </a:rPr>
              <a:t>backend</a:t>
            </a:r>
            <a:endParaRPr lang="en-US" sz="1400" dirty="0"/>
          </a:p>
          <a:p>
            <a:pPr algn="ctr" indent="0" marL="0">
              <a:buNone/>
            </a:pPr>
            <a:r>
              <a:rPr lang="en-US" sz="1100" dirty="0">
                <a:solidFill>
                  <a:schemeClr val="accent4"/>
                </a:solidFill>
              </a:rPr>
              <a:t>FastAPI · 2-6 pods (HPA)</a:t>
            </a:r>
            <a:endParaRPr lang="en-US" sz="1400" dirty="0"/>
          </a:p>
        </p:txBody>
      </p:sp>
      <p:sp>
        <p:nvSpPr>
          <p:cNvPr id="23" name="box-45"/>
          <p:cNvSpPr/>
          <p:nvPr/>
        </p:nvSpPr>
        <p:spPr>
          <a:xfrm>
            <a:off x="7086600" y="4023360"/>
            <a:ext cx="2377440" cy="548640"/>
          </a:xfrm>
          <a:prstGeom prst="roundRect">
            <a:avLst>
              <a:gd name="adj" fmla="val 16667"/>
            </a:avLst>
          </a:prstGeom>
          <a:solidFill>
            <a:schemeClr val="bg1"/>
          </a:solidFill>
          <a:ln w="15875">
            <a:solidFill>
              <a:srgbClr val="0F766E"/>
            </a:solidFill>
            <a:prstDash val="solid"/>
          </a:ln>
        </p:spPr>
      </p:sp>
      <p:sp>
        <p:nvSpPr>
          <p:cNvPr id="24" name="box-text-46"/>
          <p:cNvSpPr txBox="1"/>
          <p:nvPr/>
        </p:nvSpPr>
        <p:spPr>
          <a:xfrm>
            <a:off x="7159752" y="4023360"/>
            <a:ext cx="2231136" cy="548640"/>
          </a:xfrm>
          <a:prstGeom prst="rect">
            <a:avLst/>
          </a:prstGeom>
          <a:noFill/>
          <a:ln/>
        </p:spPr>
        <p:txBody>
          <a:bodyPr wrap="square" lIns="0" tIns="0" rIns="0" bIns="0" rtlCol="0" anchor="ctr"/>
          <a:lstStyle/>
          <a:p>
            <a:pPr algn="ctr" indent="0" marL="0">
              <a:buNone/>
            </a:pPr>
            <a:r>
              <a:rPr lang="en-US" sz="1400" b="1" dirty="0">
                <a:solidFill>
                  <a:schemeClr val="tx2"/>
                </a:solidFill>
              </a:rPr>
              <a:t>PostgreSQL</a:t>
            </a:r>
            <a:endParaRPr lang="en-US" sz="1400" dirty="0"/>
          </a:p>
          <a:p>
            <a:pPr algn="ctr" indent="0" marL="0">
              <a:buNone/>
            </a:pPr>
            <a:r>
              <a:rPr lang="en-US" sz="1100" dirty="0">
                <a:solidFill>
                  <a:schemeClr val="accent4"/>
                </a:solidFill>
              </a:rPr>
              <a:t>StatefulSet + PVC</a:t>
            </a:r>
            <a:endParaRPr lang="en-US" sz="1400" dirty="0"/>
          </a:p>
        </p:txBody>
      </p:sp>
      <p:sp>
        <p:nvSpPr>
          <p:cNvPr id="25" name="arrow-47"/>
          <p:cNvSpPr/>
          <p:nvPr/>
        </p:nvSpPr>
        <p:spPr>
          <a:xfrm flipV="1">
            <a:off x="2880360" y="3657600"/>
            <a:ext cx="822960" cy="137160"/>
          </a:xfrm>
          <a:prstGeom prst="line">
            <a:avLst/>
          </a:prstGeom>
          <a:noFill/>
          <a:ln w="19050">
            <a:solidFill>
              <a:srgbClr val="5B6B7A"/>
            </a:solidFill>
            <a:prstDash val="solid"/>
            <a:tailEnd type="triangle"/>
          </a:ln>
        </p:spPr>
      </p:sp>
      <p:sp>
        <p:nvSpPr>
          <p:cNvPr id="26" name="arrow-48"/>
          <p:cNvSpPr/>
          <p:nvPr/>
        </p:nvSpPr>
        <p:spPr>
          <a:xfrm>
            <a:off x="2880360" y="4114800"/>
            <a:ext cx="822960" cy="182880"/>
          </a:xfrm>
          <a:prstGeom prst="line">
            <a:avLst/>
          </a:prstGeom>
          <a:noFill/>
          <a:ln w="19050">
            <a:solidFill>
              <a:srgbClr val="5B6B7A"/>
            </a:solidFill>
            <a:prstDash val="solid"/>
            <a:tailEnd type="triangle"/>
          </a:ln>
        </p:spPr>
      </p:sp>
      <p:sp>
        <p:nvSpPr>
          <p:cNvPr id="27" name="arrow-49"/>
          <p:cNvSpPr/>
          <p:nvPr/>
        </p:nvSpPr>
        <p:spPr>
          <a:xfrm>
            <a:off x="6172200" y="4297680"/>
            <a:ext cx="914400" cy="914"/>
          </a:xfrm>
          <a:prstGeom prst="line">
            <a:avLst/>
          </a:prstGeom>
          <a:noFill/>
          <a:ln w="19050">
            <a:solidFill>
              <a:srgbClr val="5B6B7A"/>
            </a:solidFill>
            <a:prstDash val="solid"/>
            <a:tailEnd type="triangle"/>
          </a:ln>
        </p:spPr>
      </p:sp>
      <p:sp>
        <p:nvSpPr>
          <p:cNvPr id="28" name="routes-50"/>
          <p:cNvSpPr txBox="1"/>
          <p:nvPr/>
        </p:nvSpPr>
        <p:spPr>
          <a:xfrm>
            <a:off x="9692640" y="3474720"/>
            <a:ext cx="1783080" cy="914400"/>
          </a:xfrm>
          <a:prstGeom prst="rect">
            <a:avLst/>
          </a:prstGeom>
          <a:noFill/>
          <a:ln/>
        </p:spPr>
        <p:txBody>
          <a:bodyPr wrap="square" lIns="0" tIns="0" rIns="0" bIns="0" rtlCol="0" anchor="t"/>
          <a:lstStyle/>
          <a:p>
            <a:pPr indent="0" marL="0">
              <a:buNone/>
            </a:pPr>
            <a:r>
              <a:rPr lang="en-US" sz="1200" dirty="0">
                <a:solidFill>
                  <a:schemeClr val="accent4"/>
                </a:solidFill>
              </a:rPr>
              <a:t>/  →  frontend</a:t>
            </a:r>
            <a:endParaRPr lang="en-US" sz="1200" dirty="0"/>
          </a:p>
          <a:p>
            <a:pPr indent="0" marL="0">
              <a:buNone/>
            </a:pPr>
            <a:r>
              <a:rPr lang="en-US" sz="1200" dirty="0">
                <a:solidFill>
                  <a:schemeClr val="accent4"/>
                </a:solidFill>
              </a:rPr>
              <a:t>/api, /docs  →  backend</a:t>
            </a:r>
            <a:endParaRPr lang="en-US" sz="1200" dirty="0"/>
          </a:p>
        </p:txBody>
      </p:sp>
      <p:sp>
        <p:nvSpPr>
          <p:cNvPr id="29" name="arrow-51"/>
          <p:cNvSpPr/>
          <p:nvPr/>
        </p:nvSpPr>
        <p:spPr>
          <a:xfrm>
            <a:off x="10241280" y="2606040"/>
            <a:ext cx="914" cy="640080"/>
          </a:xfrm>
          <a:prstGeom prst="line">
            <a:avLst/>
          </a:prstGeom>
          <a:noFill/>
          <a:ln w="19050">
            <a:solidFill>
              <a:srgbClr val="5B6B7A"/>
            </a:solidFill>
            <a:prstDash val="solid"/>
            <a:tailEnd type="triangle"/>
          </a:ln>
        </p:spPr>
      </p:sp>
      <p:sp>
        <p:nvSpPr>
          <p:cNvPr id="30" name="lane-52"/>
          <p:cNvSpPr txBox="1"/>
          <p:nvPr/>
        </p:nvSpPr>
        <p:spPr>
          <a:xfrm>
            <a:off x="548640" y="4892040"/>
            <a:ext cx="54864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INFRASTRUCTURE &amp; OBSERVABILITY</a:t>
            </a:r>
            <a:endParaRPr lang="en-US" sz="1200" dirty="0"/>
          </a:p>
        </p:txBody>
      </p:sp>
      <p:sp>
        <p:nvSpPr>
          <p:cNvPr id="31" name="box-53"/>
          <p:cNvSpPr/>
          <p:nvPr/>
        </p:nvSpPr>
        <p:spPr>
          <a:xfrm>
            <a:off x="548640" y="5257800"/>
            <a:ext cx="2194560" cy="822960"/>
          </a:xfrm>
          <a:prstGeom prst="roundRect">
            <a:avLst>
              <a:gd name="adj" fmla="val 11111"/>
            </a:avLst>
          </a:prstGeom>
          <a:solidFill>
            <a:schemeClr val="bg1"/>
          </a:solidFill>
          <a:ln w="15875">
            <a:solidFill>
              <a:srgbClr val="0F766E"/>
            </a:solidFill>
            <a:prstDash val="solid"/>
          </a:ln>
        </p:spPr>
      </p:sp>
      <p:sp>
        <p:nvSpPr>
          <p:cNvPr id="32" name="box-text-54"/>
          <p:cNvSpPr txBox="1"/>
          <p:nvPr/>
        </p:nvSpPr>
        <p:spPr>
          <a:xfrm>
            <a:off x="621792" y="5257800"/>
            <a:ext cx="2048256" cy="822960"/>
          </a:xfrm>
          <a:prstGeom prst="rect">
            <a:avLst/>
          </a:prstGeom>
          <a:noFill/>
          <a:ln/>
        </p:spPr>
        <p:txBody>
          <a:bodyPr wrap="square" lIns="0" tIns="0" rIns="0" bIns="0" rtlCol="0" anchor="ctr"/>
          <a:lstStyle/>
          <a:p>
            <a:pPr algn="ctr" indent="0" marL="0">
              <a:buNone/>
            </a:pPr>
            <a:r>
              <a:rPr lang="en-US" sz="1400" b="1" dirty="0">
                <a:solidFill>
                  <a:schemeClr val="tx2"/>
                </a:solidFill>
              </a:rPr>
              <a:t>Terraform</a:t>
            </a:r>
            <a:endParaRPr lang="en-US" sz="1400" dirty="0"/>
          </a:p>
          <a:p>
            <a:pPr algn="ctr" indent="0" marL="0">
              <a:buNone/>
            </a:pPr>
            <a:r>
              <a:rPr lang="en-US" sz="1100" dirty="0">
                <a:solidFill>
                  <a:schemeClr val="accent4"/>
                </a:solidFill>
              </a:rPr>
              <a:t>infrastructure as code</a:t>
            </a:r>
            <a:endParaRPr lang="en-US" sz="1400" dirty="0"/>
          </a:p>
        </p:txBody>
      </p:sp>
      <p:sp>
        <p:nvSpPr>
          <p:cNvPr id="33" name="box-55"/>
          <p:cNvSpPr/>
          <p:nvPr/>
        </p:nvSpPr>
        <p:spPr>
          <a:xfrm>
            <a:off x="3291840" y="5257800"/>
            <a:ext cx="2926080" cy="822960"/>
          </a:xfrm>
          <a:prstGeom prst="roundRect">
            <a:avLst>
              <a:gd name="adj" fmla="val 11111"/>
            </a:avLst>
          </a:prstGeom>
          <a:solidFill>
            <a:schemeClr val="bg1"/>
          </a:solidFill>
          <a:ln w="15875">
            <a:solidFill>
              <a:srgbClr val="0F766E"/>
            </a:solidFill>
            <a:prstDash val="solid"/>
          </a:ln>
        </p:spPr>
      </p:sp>
      <p:sp>
        <p:nvSpPr>
          <p:cNvPr id="34" name="box-text-56"/>
          <p:cNvSpPr txBox="1"/>
          <p:nvPr/>
        </p:nvSpPr>
        <p:spPr>
          <a:xfrm>
            <a:off x="3364992" y="5257800"/>
            <a:ext cx="2779776" cy="822960"/>
          </a:xfrm>
          <a:prstGeom prst="rect">
            <a:avLst/>
          </a:prstGeom>
          <a:noFill/>
          <a:ln/>
        </p:spPr>
        <p:txBody>
          <a:bodyPr wrap="square" lIns="0" tIns="0" rIns="0" bIns="0" rtlCol="0" anchor="ctr"/>
          <a:lstStyle/>
          <a:p>
            <a:pPr algn="ctr" indent="0" marL="0">
              <a:buNone/>
            </a:pPr>
            <a:r>
              <a:rPr lang="en-US" sz="1400" b="1" dirty="0">
                <a:solidFill>
                  <a:schemeClr val="tx2"/>
                </a:solidFill>
              </a:rPr>
              <a:t>AWS ap-south-1</a:t>
            </a:r>
            <a:endParaRPr lang="en-US" sz="1400" dirty="0"/>
          </a:p>
          <a:p>
            <a:pPr algn="ctr" indent="0" marL="0">
              <a:buNone/>
            </a:pPr>
            <a:r>
              <a:rPr lang="en-US" sz="1100" dirty="0">
                <a:solidFill>
                  <a:schemeClr val="accent4"/>
                </a:solidFill>
              </a:rPr>
              <a:t>VPC · subnets · NAT · EKS</a:t>
            </a:r>
            <a:endParaRPr lang="en-US" sz="1400" dirty="0"/>
          </a:p>
        </p:txBody>
      </p:sp>
      <p:sp>
        <p:nvSpPr>
          <p:cNvPr id="35" name="box-57"/>
          <p:cNvSpPr/>
          <p:nvPr/>
        </p:nvSpPr>
        <p:spPr>
          <a:xfrm>
            <a:off x="7086600" y="5257800"/>
            <a:ext cx="2103120" cy="822960"/>
          </a:xfrm>
          <a:prstGeom prst="roundRect">
            <a:avLst>
              <a:gd name="adj" fmla="val 11111"/>
            </a:avLst>
          </a:prstGeom>
          <a:solidFill>
            <a:schemeClr val="bg1"/>
          </a:solidFill>
          <a:ln w="15875">
            <a:solidFill>
              <a:srgbClr val="0F766E"/>
            </a:solidFill>
            <a:prstDash val="solid"/>
          </a:ln>
        </p:spPr>
      </p:sp>
      <p:sp>
        <p:nvSpPr>
          <p:cNvPr id="36" name="box-text-58"/>
          <p:cNvSpPr txBox="1"/>
          <p:nvPr/>
        </p:nvSpPr>
        <p:spPr>
          <a:xfrm>
            <a:off x="7159752" y="5257800"/>
            <a:ext cx="1956816" cy="822960"/>
          </a:xfrm>
          <a:prstGeom prst="rect">
            <a:avLst/>
          </a:prstGeom>
          <a:noFill/>
          <a:ln/>
        </p:spPr>
        <p:txBody>
          <a:bodyPr wrap="square" lIns="0" tIns="0" rIns="0" bIns="0" rtlCol="0" anchor="ctr"/>
          <a:lstStyle/>
          <a:p>
            <a:pPr algn="ctr" indent="0" marL="0">
              <a:buNone/>
            </a:pPr>
            <a:r>
              <a:rPr lang="en-US" sz="1400" b="1" dirty="0">
                <a:solidFill>
                  <a:schemeClr val="tx2"/>
                </a:solidFill>
              </a:rPr>
              <a:t>Prometheus</a:t>
            </a:r>
            <a:endParaRPr lang="en-US" sz="1400" dirty="0"/>
          </a:p>
          <a:p>
            <a:pPr algn="ctr" indent="0" marL="0">
              <a:buNone/>
            </a:pPr>
            <a:r>
              <a:rPr lang="en-US" sz="1100" dirty="0">
                <a:solidFill>
                  <a:schemeClr val="accent4"/>
                </a:solidFill>
              </a:rPr>
              <a:t>scrapes /metrics · alerts</a:t>
            </a:r>
            <a:endParaRPr lang="en-US" sz="1400" dirty="0"/>
          </a:p>
        </p:txBody>
      </p:sp>
      <p:sp>
        <p:nvSpPr>
          <p:cNvPr id="37" name="box-59"/>
          <p:cNvSpPr/>
          <p:nvPr/>
        </p:nvSpPr>
        <p:spPr>
          <a:xfrm>
            <a:off x="9692640" y="5257800"/>
            <a:ext cx="1920240" cy="822960"/>
          </a:xfrm>
          <a:prstGeom prst="roundRect">
            <a:avLst>
              <a:gd name="adj" fmla="val 11111"/>
            </a:avLst>
          </a:prstGeom>
          <a:solidFill>
            <a:schemeClr val="bg1"/>
          </a:solidFill>
          <a:ln w="15875">
            <a:solidFill>
              <a:srgbClr val="0F766E"/>
            </a:solidFill>
            <a:prstDash val="solid"/>
          </a:ln>
        </p:spPr>
      </p:sp>
      <p:sp>
        <p:nvSpPr>
          <p:cNvPr id="38" name="box-text-60"/>
          <p:cNvSpPr txBox="1"/>
          <p:nvPr/>
        </p:nvSpPr>
        <p:spPr>
          <a:xfrm>
            <a:off x="9765792" y="5257800"/>
            <a:ext cx="1773936" cy="822960"/>
          </a:xfrm>
          <a:prstGeom prst="rect">
            <a:avLst/>
          </a:prstGeom>
          <a:noFill/>
          <a:ln/>
        </p:spPr>
        <p:txBody>
          <a:bodyPr wrap="square" lIns="0" tIns="0" rIns="0" bIns="0" rtlCol="0" anchor="ctr"/>
          <a:lstStyle/>
          <a:p>
            <a:pPr algn="ctr" indent="0" marL="0">
              <a:buNone/>
            </a:pPr>
            <a:r>
              <a:rPr lang="en-US" sz="1400" b="1" dirty="0">
                <a:solidFill>
                  <a:schemeClr val="tx2"/>
                </a:solidFill>
              </a:rPr>
              <a:t>Grafana</a:t>
            </a:r>
            <a:endParaRPr lang="en-US" sz="1400" dirty="0"/>
          </a:p>
          <a:p>
            <a:pPr algn="ctr" indent="0" marL="0">
              <a:buNone/>
            </a:pPr>
            <a:r>
              <a:rPr lang="en-US" sz="1100" dirty="0">
                <a:solidFill>
                  <a:schemeClr val="accent4"/>
                </a:solidFill>
              </a:rPr>
              <a:t>dashboard as code</a:t>
            </a:r>
            <a:endParaRPr lang="en-US" sz="1400" dirty="0"/>
          </a:p>
        </p:txBody>
      </p:sp>
      <p:sp>
        <p:nvSpPr>
          <p:cNvPr id="39" name="arrow-61"/>
          <p:cNvSpPr/>
          <p:nvPr/>
        </p:nvSpPr>
        <p:spPr>
          <a:xfrm>
            <a:off x="2743200" y="5669280"/>
            <a:ext cx="548640" cy="914"/>
          </a:xfrm>
          <a:prstGeom prst="line">
            <a:avLst/>
          </a:prstGeom>
          <a:noFill/>
          <a:ln w="19050">
            <a:solidFill>
              <a:srgbClr val="5B6B7A"/>
            </a:solidFill>
            <a:prstDash val="solid"/>
            <a:tailEnd type="triangle"/>
          </a:ln>
        </p:spPr>
      </p:sp>
      <p:sp>
        <p:nvSpPr>
          <p:cNvPr id="40" name="arrow-62"/>
          <p:cNvSpPr/>
          <p:nvPr/>
        </p:nvSpPr>
        <p:spPr>
          <a:xfrm>
            <a:off x="9189720" y="5669280"/>
            <a:ext cx="502920" cy="914"/>
          </a:xfrm>
          <a:prstGeom prst="line">
            <a:avLst/>
          </a:prstGeom>
          <a:noFill/>
          <a:ln w="19050">
            <a:solidFill>
              <a:srgbClr val="5B6B7A"/>
            </a:solidFill>
            <a:prstDash val="solid"/>
            <a:tailEnd type="triangle"/>
          </a:ln>
        </p:spPr>
      </p:sp>
      <p:sp>
        <p:nvSpPr>
          <p:cNvPr id="41" name="arrow-63"/>
          <p:cNvSpPr/>
          <p:nvPr/>
        </p:nvSpPr>
        <p:spPr>
          <a:xfrm flipV="1">
            <a:off x="8138160" y="4663440"/>
            <a:ext cx="914" cy="594360"/>
          </a:xfrm>
          <a:prstGeom prst="line">
            <a:avLst/>
          </a:prstGeom>
          <a:noFill/>
          <a:ln w="19050">
            <a:solidFill>
              <a:srgbClr val="5B6B7A"/>
            </a:solidFill>
            <a:prstDash val="solid"/>
            <a:tailEnd type="triangle"/>
          </a:ln>
        </p:spPr>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Tech stack</a:t>
            </a:r>
            <a:endParaRPr lang="en-US" sz="3600" dirty="0"/>
          </a:p>
        </p:txBody>
      </p:sp>
      <p:sp>
        <p:nvSpPr>
          <p:cNvPr id="3" name="card-64"/>
          <p:cNvSpPr/>
          <p:nvPr/>
        </p:nvSpPr>
        <p:spPr>
          <a:xfrm>
            <a:off x="548640" y="1371600"/>
            <a:ext cx="2606040" cy="1371600"/>
          </a:xfrm>
          <a:prstGeom prst="roundRect">
            <a:avLst>
              <a:gd name="adj" fmla="val 8000"/>
            </a:avLst>
          </a:prstGeom>
          <a:solidFill>
            <a:schemeClr val="bg2"/>
          </a:solidFill>
          <a:ln/>
        </p:spPr>
      </p:sp>
      <p:sp>
        <p:nvSpPr>
          <p:cNvPr id="4" name="badge-65"/>
          <p:cNvSpPr/>
          <p:nvPr/>
        </p:nvSpPr>
        <p:spPr>
          <a:xfrm>
            <a:off x="777240" y="1755648"/>
            <a:ext cx="603504" cy="603504"/>
          </a:xfrm>
          <a:prstGeom prst="ellipse">
            <a:avLst/>
          </a:prstGeom>
          <a:solidFill>
            <a:schemeClr val="accent1"/>
          </a:solidFill>
          <a:ln/>
        </p:spPr>
      </p:sp>
      <p:pic>
        <p:nvPicPr>
          <p:cNvPr id="5" name="badge-icon-66" descr="preencoded.png">    </p:cNvPr>
          <p:cNvPicPr>
            <a:picLocks noChangeAspect="1"/>
          </p:cNvPicPr>
          <p:nvPr/>
        </p:nvPicPr>
        <p:blipFill>
          <a:blip r:embed="rId1"/>
          <a:stretch>
            <a:fillRect/>
          </a:stretch>
        </p:blipFill>
        <p:spPr>
          <a:xfrm>
            <a:off x="910011" y="1888419"/>
            <a:ext cx="337962" cy="337962"/>
          </a:xfrm>
          <a:prstGeom prst="rect">
            <a:avLst/>
          </a:prstGeom>
        </p:spPr>
      </p:pic>
      <p:sp>
        <p:nvSpPr>
          <p:cNvPr id="6" name="stack-name-67"/>
          <p:cNvSpPr txBox="1"/>
          <p:nvPr/>
        </p:nvSpPr>
        <p:spPr>
          <a:xfrm>
            <a:off x="1536192" y="17190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React + Vite</a:t>
            </a:r>
            <a:endParaRPr lang="en-US" sz="1500" dirty="0"/>
          </a:p>
        </p:txBody>
      </p:sp>
      <p:sp>
        <p:nvSpPr>
          <p:cNvPr id="7" name="stack-role-68"/>
          <p:cNvSpPr txBox="1"/>
          <p:nvPr/>
        </p:nvSpPr>
        <p:spPr>
          <a:xfrm>
            <a:off x="1536192" y="21031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Responsive dashboard</a:t>
            </a:r>
            <a:endParaRPr lang="en-US" sz="1200" dirty="0"/>
          </a:p>
        </p:txBody>
      </p:sp>
      <p:sp>
        <p:nvSpPr>
          <p:cNvPr id="8" name="card-69"/>
          <p:cNvSpPr/>
          <p:nvPr/>
        </p:nvSpPr>
        <p:spPr>
          <a:xfrm>
            <a:off x="3355848" y="1371600"/>
            <a:ext cx="2606040" cy="1371600"/>
          </a:xfrm>
          <a:prstGeom prst="roundRect">
            <a:avLst>
              <a:gd name="adj" fmla="val 8000"/>
            </a:avLst>
          </a:prstGeom>
          <a:solidFill>
            <a:schemeClr val="bg2"/>
          </a:solidFill>
          <a:ln/>
        </p:spPr>
      </p:sp>
      <p:sp>
        <p:nvSpPr>
          <p:cNvPr id="9" name="badge-70"/>
          <p:cNvSpPr/>
          <p:nvPr/>
        </p:nvSpPr>
        <p:spPr>
          <a:xfrm>
            <a:off x="3584448" y="1755648"/>
            <a:ext cx="603504" cy="603504"/>
          </a:xfrm>
          <a:prstGeom prst="ellipse">
            <a:avLst/>
          </a:prstGeom>
          <a:solidFill>
            <a:schemeClr val="accent1"/>
          </a:solidFill>
          <a:ln/>
        </p:spPr>
      </p:sp>
      <p:pic>
        <p:nvPicPr>
          <p:cNvPr id="10" name="badge-icon-71" descr="preencoded.png">    </p:cNvPr>
          <p:cNvPicPr>
            <a:picLocks noChangeAspect="1"/>
          </p:cNvPicPr>
          <p:nvPr/>
        </p:nvPicPr>
        <p:blipFill>
          <a:blip r:embed="rId2"/>
          <a:stretch>
            <a:fillRect/>
          </a:stretch>
        </p:blipFill>
        <p:spPr>
          <a:xfrm>
            <a:off x="3717219" y="1888419"/>
            <a:ext cx="337962" cy="337962"/>
          </a:xfrm>
          <a:prstGeom prst="rect">
            <a:avLst/>
          </a:prstGeom>
        </p:spPr>
      </p:pic>
      <p:sp>
        <p:nvSpPr>
          <p:cNvPr id="11" name="stack-name-72"/>
          <p:cNvSpPr txBox="1"/>
          <p:nvPr/>
        </p:nvSpPr>
        <p:spPr>
          <a:xfrm>
            <a:off x="4343400" y="17190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FastAPI</a:t>
            </a:r>
            <a:endParaRPr lang="en-US" sz="1500" dirty="0"/>
          </a:p>
        </p:txBody>
      </p:sp>
      <p:sp>
        <p:nvSpPr>
          <p:cNvPr id="12" name="stack-role-73"/>
          <p:cNvSpPr txBox="1"/>
          <p:nvPr/>
        </p:nvSpPr>
        <p:spPr>
          <a:xfrm>
            <a:off x="4343400" y="21031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REST API, 10 endpoints</a:t>
            </a:r>
            <a:endParaRPr lang="en-US" sz="1200" dirty="0"/>
          </a:p>
        </p:txBody>
      </p:sp>
      <p:sp>
        <p:nvSpPr>
          <p:cNvPr id="13" name="card-74"/>
          <p:cNvSpPr/>
          <p:nvPr/>
        </p:nvSpPr>
        <p:spPr>
          <a:xfrm>
            <a:off x="6163056" y="1371600"/>
            <a:ext cx="2606040" cy="1371600"/>
          </a:xfrm>
          <a:prstGeom prst="roundRect">
            <a:avLst>
              <a:gd name="adj" fmla="val 8000"/>
            </a:avLst>
          </a:prstGeom>
          <a:solidFill>
            <a:schemeClr val="bg2"/>
          </a:solidFill>
          <a:ln/>
        </p:spPr>
      </p:sp>
      <p:sp>
        <p:nvSpPr>
          <p:cNvPr id="14" name="badge-75"/>
          <p:cNvSpPr/>
          <p:nvPr/>
        </p:nvSpPr>
        <p:spPr>
          <a:xfrm>
            <a:off x="6391656" y="1755648"/>
            <a:ext cx="603504" cy="603504"/>
          </a:xfrm>
          <a:prstGeom prst="ellipse">
            <a:avLst/>
          </a:prstGeom>
          <a:solidFill>
            <a:schemeClr val="accent1"/>
          </a:solidFill>
          <a:ln/>
        </p:spPr>
      </p:sp>
      <p:pic>
        <p:nvPicPr>
          <p:cNvPr id="15" name="badge-icon-76" descr="preencoded.png">    </p:cNvPr>
          <p:cNvPicPr>
            <a:picLocks noChangeAspect="1"/>
          </p:cNvPicPr>
          <p:nvPr/>
        </p:nvPicPr>
        <p:blipFill>
          <a:blip r:embed="rId3"/>
          <a:stretch>
            <a:fillRect/>
          </a:stretch>
        </p:blipFill>
        <p:spPr>
          <a:xfrm>
            <a:off x="6524427" y="1888419"/>
            <a:ext cx="337962" cy="337962"/>
          </a:xfrm>
          <a:prstGeom prst="rect">
            <a:avLst/>
          </a:prstGeom>
        </p:spPr>
      </p:pic>
      <p:sp>
        <p:nvSpPr>
          <p:cNvPr id="16" name="stack-name-77"/>
          <p:cNvSpPr txBox="1"/>
          <p:nvPr/>
        </p:nvSpPr>
        <p:spPr>
          <a:xfrm>
            <a:off x="7150608" y="17190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PostgreSQL</a:t>
            </a:r>
            <a:endParaRPr lang="en-US" sz="1500" dirty="0"/>
          </a:p>
        </p:txBody>
      </p:sp>
      <p:sp>
        <p:nvSpPr>
          <p:cNvPr id="17" name="stack-role-78"/>
          <p:cNvSpPr txBox="1"/>
          <p:nvPr/>
        </p:nvSpPr>
        <p:spPr>
          <a:xfrm>
            <a:off x="7150608" y="21031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Data + Alembic migrations</a:t>
            </a:r>
            <a:endParaRPr lang="en-US" sz="1200" dirty="0"/>
          </a:p>
        </p:txBody>
      </p:sp>
      <p:sp>
        <p:nvSpPr>
          <p:cNvPr id="18" name="card-79"/>
          <p:cNvSpPr/>
          <p:nvPr/>
        </p:nvSpPr>
        <p:spPr>
          <a:xfrm>
            <a:off x="8970264" y="1371600"/>
            <a:ext cx="2606040" cy="1371600"/>
          </a:xfrm>
          <a:prstGeom prst="roundRect">
            <a:avLst>
              <a:gd name="adj" fmla="val 8000"/>
            </a:avLst>
          </a:prstGeom>
          <a:solidFill>
            <a:schemeClr val="bg2"/>
          </a:solidFill>
          <a:ln/>
        </p:spPr>
      </p:sp>
      <p:sp>
        <p:nvSpPr>
          <p:cNvPr id="19" name="badge-80"/>
          <p:cNvSpPr/>
          <p:nvPr/>
        </p:nvSpPr>
        <p:spPr>
          <a:xfrm>
            <a:off x="9198864" y="1755648"/>
            <a:ext cx="603504" cy="603504"/>
          </a:xfrm>
          <a:prstGeom prst="ellipse">
            <a:avLst/>
          </a:prstGeom>
          <a:solidFill>
            <a:schemeClr val="accent1"/>
          </a:solidFill>
          <a:ln/>
        </p:spPr>
      </p:sp>
      <p:pic>
        <p:nvPicPr>
          <p:cNvPr id="20" name="badge-icon-81" descr="preencoded.png">    </p:cNvPr>
          <p:cNvPicPr>
            <a:picLocks noChangeAspect="1"/>
          </p:cNvPicPr>
          <p:nvPr/>
        </p:nvPicPr>
        <p:blipFill>
          <a:blip r:embed="rId4"/>
          <a:stretch>
            <a:fillRect/>
          </a:stretch>
        </p:blipFill>
        <p:spPr>
          <a:xfrm>
            <a:off x="9331635" y="1888419"/>
            <a:ext cx="337962" cy="337962"/>
          </a:xfrm>
          <a:prstGeom prst="rect">
            <a:avLst/>
          </a:prstGeom>
        </p:spPr>
      </p:pic>
      <p:sp>
        <p:nvSpPr>
          <p:cNvPr id="21" name="stack-name-82"/>
          <p:cNvSpPr txBox="1"/>
          <p:nvPr/>
        </p:nvSpPr>
        <p:spPr>
          <a:xfrm>
            <a:off x="9957816" y="17190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pytest</a:t>
            </a:r>
            <a:endParaRPr lang="en-US" sz="1500" dirty="0"/>
          </a:p>
        </p:txBody>
      </p:sp>
      <p:sp>
        <p:nvSpPr>
          <p:cNvPr id="22" name="stack-role-83"/>
          <p:cNvSpPr txBox="1"/>
          <p:nvPr/>
        </p:nvSpPr>
        <p:spPr>
          <a:xfrm>
            <a:off x="9957816" y="21031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20 automated tests</a:t>
            </a:r>
            <a:endParaRPr lang="en-US" sz="1200" dirty="0"/>
          </a:p>
        </p:txBody>
      </p:sp>
      <p:sp>
        <p:nvSpPr>
          <p:cNvPr id="23" name="card-84"/>
          <p:cNvSpPr/>
          <p:nvPr/>
        </p:nvSpPr>
        <p:spPr>
          <a:xfrm>
            <a:off x="548640" y="2971800"/>
            <a:ext cx="2606040" cy="1371600"/>
          </a:xfrm>
          <a:prstGeom prst="roundRect">
            <a:avLst>
              <a:gd name="adj" fmla="val 8000"/>
            </a:avLst>
          </a:prstGeom>
          <a:solidFill>
            <a:schemeClr val="bg2"/>
          </a:solidFill>
          <a:ln/>
        </p:spPr>
      </p:sp>
      <p:sp>
        <p:nvSpPr>
          <p:cNvPr id="24" name="badge-85"/>
          <p:cNvSpPr/>
          <p:nvPr/>
        </p:nvSpPr>
        <p:spPr>
          <a:xfrm>
            <a:off x="777240" y="3355848"/>
            <a:ext cx="603504" cy="603504"/>
          </a:xfrm>
          <a:prstGeom prst="ellipse">
            <a:avLst/>
          </a:prstGeom>
          <a:solidFill>
            <a:schemeClr val="accent1"/>
          </a:solidFill>
          <a:ln/>
        </p:spPr>
      </p:sp>
      <p:pic>
        <p:nvPicPr>
          <p:cNvPr id="25" name="badge-icon-86" descr="preencoded.png">    </p:cNvPr>
          <p:cNvPicPr>
            <a:picLocks noChangeAspect="1"/>
          </p:cNvPicPr>
          <p:nvPr/>
        </p:nvPicPr>
        <p:blipFill>
          <a:blip r:embed="rId5"/>
          <a:stretch>
            <a:fillRect/>
          </a:stretch>
        </p:blipFill>
        <p:spPr>
          <a:xfrm>
            <a:off x="910011" y="3488619"/>
            <a:ext cx="337962" cy="337962"/>
          </a:xfrm>
          <a:prstGeom prst="rect">
            <a:avLst/>
          </a:prstGeom>
        </p:spPr>
      </p:pic>
      <p:sp>
        <p:nvSpPr>
          <p:cNvPr id="26" name="stack-name-87"/>
          <p:cNvSpPr txBox="1"/>
          <p:nvPr/>
        </p:nvSpPr>
        <p:spPr>
          <a:xfrm>
            <a:off x="1536192" y="33192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Docker</a:t>
            </a:r>
            <a:endParaRPr lang="en-US" sz="1500" dirty="0"/>
          </a:p>
        </p:txBody>
      </p:sp>
      <p:sp>
        <p:nvSpPr>
          <p:cNvPr id="27" name="stack-role-88"/>
          <p:cNvSpPr txBox="1"/>
          <p:nvPr/>
        </p:nvSpPr>
        <p:spPr>
          <a:xfrm>
            <a:off x="1536192" y="37033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2 images + Compose</a:t>
            </a:r>
            <a:endParaRPr lang="en-US" sz="1200" dirty="0"/>
          </a:p>
        </p:txBody>
      </p:sp>
      <p:sp>
        <p:nvSpPr>
          <p:cNvPr id="28" name="card-89"/>
          <p:cNvSpPr/>
          <p:nvPr/>
        </p:nvSpPr>
        <p:spPr>
          <a:xfrm>
            <a:off x="3355848" y="2971800"/>
            <a:ext cx="2606040" cy="1371600"/>
          </a:xfrm>
          <a:prstGeom prst="roundRect">
            <a:avLst>
              <a:gd name="adj" fmla="val 8000"/>
            </a:avLst>
          </a:prstGeom>
          <a:solidFill>
            <a:schemeClr val="bg2"/>
          </a:solidFill>
          <a:ln/>
        </p:spPr>
      </p:sp>
      <p:sp>
        <p:nvSpPr>
          <p:cNvPr id="29" name="badge-90"/>
          <p:cNvSpPr/>
          <p:nvPr/>
        </p:nvSpPr>
        <p:spPr>
          <a:xfrm>
            <a:off x="3584448" y="3355848"/>
            <a:ext cx="603504" cy="603504"/>
          </a:xfrm>
          <a:prstGeom prst="ellipse">
            <a:avLst/>
          </a:prstGeom>
          <a:solidFill>
            <a:schemeClr val="accent1"/>
          </a:solidFill>
          <a:ln/>
        </p:spPr>
      </p:sp>
      <p:pic>
        <p:nvPicPr>
          <p:cNvPr id="30" name="badge-icon-91" descr="preencoded.png">    </p:cNvPr>
          <p:cNvPicPr>
            <a:picLocks noChangeAspect="1"/>
          </p:cNvPicPr>
          <p:nvPr/>
        </p:nvPicPr>
        <p:blipFill>
          <a:blip r:embed="rId6"/>
          <a:stretch>
            <a:fillRect/>
          </a:stretch>
        </p:blipFill>
        <p:spPr>
          <a:xfrm>
            <a:off x="3717219" y="3488619"/>
            <a:ext cx="337962" cy="337962"/>
          </a:xfrm>
          <a:prstGeom prst="rect">
            <a:avLst/>
          </a:prstGeom>
        </p:spPr>
      </p:pic>
      <p:sp>
        <p:nvSpPr>
          <p:cNvPr id="31" name="stack-name-92"/>
          <p:cNvSpPr txBox="1"/>
          <p:nvPr/>
        </p:nvSpPr>
        <p:spPr>
          <a:xfrm>
            <a:off x="4343400" y="33192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GitHub Actions</a:t>
            </a:r>
            <a:endParaRPr lang="en-US" sz="1500" dirty="0"/>
          </a:p>
        </p:txBody>
      </p:sp>
      <p:sp>
        <p:nvSpPr>
          <p:cNvPr id="32" name="stack-role-93"/>
          <p:cNvSpPr txBox="1"/>
          <p:nvPr/>
        </p:nvSpPr>
        <p:spPr>
          <a:xfrm>
            <a:off x="4343400" y="37033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9-job CI/CD pipeline</a:t>
            </a:r>
            <a:endParaRPr lang="en-US" sz="1200" dirty="0"/>
          </a:p>
        </p:txBody>
      </p:sp>
      <p:sp>
        <p:nvSpPr>
          <p:cNvPr id="33" name="card-94"/>
          <p:cNvSpPr/>
          <p:nvPr/>
        </p:nvSpPr>
        <p:spPr>
          <a:xfrm>
            <a:off x="6163056" y="2971800"/>
            <a:ext cx="2606040" cy="1371600"/>
          </a:xfrm>
          <a:prstGeom prst="roundRect">
            <a:avLst>
              <a:gd name="adj" fmla="val 8000"/>
            </a:avLst>
          </a:prstGeom>
          <a:solidFill>
            <a:schemeClr val="bg2"/>
          </a:solidFill>
          <a:ln/>
        </p:spPr>
      </p:sp>
      <p:sp>
        <p:nvSpPr>
          <p:cNvPr id="34" name="badge-95"/>
          <p:cNvSpPr/>
          <p:nvPr/>
        </p:nvSpPr>
        <p:spPr>
          <a:xfrm>
            <a:off x="6391656" y="3355848"/>
            <a:ext cx="603504" cy="603504"/>
          </a:xfrm>
          <a:prstGeom prst="ellipse">
            <a:avLst/>
          </a:prstGeom>
          <a:solidFill>
            <a:schemeClr val="accent1"/>
          </a:solidFill>
          <a:ln/>
        </p:spPr>
      </p:sp>
      <p:pic>
        <p:nvPicPr>
          <p:cNvPr id="35" name="badge-icon-96" descr="preencoded.png">    </p:cNvPr>
          <p:cNvPicPr>
            <a:picLocks noChangeAspect="1"/>
          </p:cNvPicPr>
          <p:nvPr/>
        </p:nvPicPr>
        <p:blipFill>
          <a:blip r:embed="rId7"/>
          <a:stretch>
            <a:fillRect/>
          </a:stretch>
        </p:blipFill>
        <p:spPr>
          <a:xfrm>
            <a:off x="6524427" y="3488619"/>
            <a:ext cx="337962" cy="337962"/>
          </a:xfrm>
          <a:prstGeom prst="rect">
            <a:avLst/>
          </a:prstGeom>
        </p:spPr>
      </p:pic>
      <p:sp>
        <p:nvSpPr>
          <p:cNvPr id="36" name="stack-name-97"/>
          <p:cNvSpPr txBox="1"/>
          <p:nvPr/>
        </p:nvSpPr>
        <p:spPr>
          <a:xfrm>
            <a:off x="7150608" y="33192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Trivy</a:t>
            </a:r>
            <a:endParaRPr lang="en-US" sz="1500" dirty="0"/>
          </a:p>
        </p:txBody>
      </p:sp>
      <p:sp>
        <p:nvSpPr>
          <p:cNvPr id="37" name="stack-role-98"/>
          <p:cNvSpPr txBox="1"/>
          <p:nvPr/>
        </p:nvSpPr>
        <p:spPr>
          <a:xfrm>
            <a:off x="7150608" y="37033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Image security gate</a:t>
            </a:r>
            <a:endParaRPr lang="en-US" sz="1200" dirty="0"/>
          </a:p>
        </p:txBody>
      </p:sp>
      <p:sp>
        <p:nvSpPr>
          <p:cNvPr id="38" name="card-99"/>
          <p:cNvSpPr/>
          <p:nvPr/>
        </p:nvSpPr>
        <p:spPr>
          <a:xfrm>
            <a:off x="8970264" y="2971800"/>
            <a:ext cx="2606040" cy="1371600"/>
          </a:xfrm>
          <a:prstGeom prst="roundRect">
            <a:avLst>
              <a:gd name="adj" fmla="val 8000"/>
            </a:avLst>
          </a:prstGeom>
          <a:solidFill>
            <a:schemeClr val="bg2"/>
          </a:solidFill>
          <a:ln/>
        </p:spPr>
      </p:sp>
      <p:sp>
        <p:nvSpPr>
          <p:cNvPr id="39" name="badge-100"/>
          <p:cNvSpPr/>
          <p:nvPr/>
        </p:nvSpPr>
        <p:spPr>
          <a:xfrm>
            <a:off x="9198864" y="3355848"/>
            <a:ext cx="603504" cy="603504"/>
          </a:xfrm>
          <a:prstGeom prst="ellipse">
            <a:avLst/>
          </a:prstGeom>
          <a:solidFill>
            <a:schemeClr val="accent1"/>
          </a:solidFill>
          <a:ln/>
        </p:spPr>
      </p:sp>
      <p:pic>
        <p:nvPicPr>
          <p:cNvPr id="40" name="badge-icon-101" descr="preencoded.png">    </p:cNvPr>
          <p:cNvPicPr>
            <a:picLocks noChangeAspect="1"/>
          </p:cNvPicPr>
          <p:nvPr/>
        </p:nvPicPr>
        <p:blipFill>
          <a:blip r:embed="rId8"/>
          <a:stretch>
            <a:fillRect/>
          </a:stretch>
        </p:blipFill>
        <p:spPr>
          <a:xfrm>
            <a:off x="9331635" y="3488619"/>
            <a:ext cx="337962" cy="337962"/>
          </a:xfrm>
          <a:prstGeom prst="rect">
            <a:avLst/>
          </a:prstGeom>
        </p:spPr>
      </p:pic>
      <p:sp>
        <p:nvSpPr>
          <p:cNvPr id="41" name="stack-name-102"/>
          <p:cNvSpPr txBox="1"/>
          <p:nvPr/>
        </p:nvSpPr>
        <p:spPr>
          <a:xfrm>
            <a:off x="9957816" y="33192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Terraform</a:t>
            </a:r>
            <a:endParaRPr lang="en-US" sz="1500" dirty="0"/>
          </a:p>
        </p:txBody>
      </p:sp>
      <p:sp>
        <p:nvSpPr>
          <p:cNvPr id="42" name="stack-role-103"/>
          <p:cNvSpPr txBox="1"/>
          <p:nvPr/>
        </p:nvSpPr>
        <p:spPr>
          <a:xfrm>
            <a:off x="9957816" y="37033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AWS VPC + EKS</a:t>
            </a:r>
            <a:endParaRPr lang="en-US" sz="1200" dirty="0"/>
          </a:p>
        </p:txBody>
      </p:sp>
      <p:sp>
        <p:nvSpPr>
          <p:cNvPr id="43" name="card-104"/>
          <p:cNvSpPr/>
          <p:nvPr/>
        </p:nvSpPr>
        <p:spPr>
          <a:xfrm>
            <a:off x="548640" y="4572000"/>
            <a:ext cx="2606040" cy="1371600"/>
          </a:xfrm>
          <a:prstGeom prst="roundRect">
            <a:avLst>
              <a:gd name="adj" fmla="val 8000"/>
            </a:avLst>
          </a:prstGeom>
          <a:solidFill>
            <a:schemeClr val="bg2"/>
          </a:solidFill>
          <a:ln/>
        </p:spPr>
      </p:sp>
      <p:sp>
        <p:nvSpPr>
          <p:cNvPr id="44" name="badge-105"/>
          <p:cNvSpPr/>
          <p:nvPr/>
        </p:nvSpPr>
        <p:spPr>
          <a:xfrm>
            <a:off x="777240" y="4956048"/>
            <a:ext cx="603504" cy="603504"/>
          </a:xfrm>
          <a:prstGeom prst="ellipse">
            <a:avLst/>
          </a:prstGeom>
          <a:solidFill>
            <a:schemeClr val="accent1"/>
          </a:solidFill>
          <a:ln/>
        </p:spPr>
      </p:sp>
      <p:pic>
        <p:nvPicPr>
          <p:cNvPr id="45" name="badge-icon-106" descr="preencoded.png">    </p:cNvPr>
          <p:cNvPicPr>
            <a:picLocks noChangeAspect="1"/>
          </p:cNvPicPr>
          <p:nvPr/>
        </p:nvPicPr>
        <p:blipFill>
          <a:blip r:embed="rId9"/>
          <a:stretch>
            <a:fillRect/>
          </a:stretch>
        </p:blipFill>
        <p:spPr>
          <a:xfrm>
            <a:off x="910011" y="5088819"/>
            <a:ext cx="337962" cy="337962"/>
          </a:xfrm>
          <a:prstGeom prst="rect">
            <a:avLst/>
          </a:prstGeom>
        </p:spPr>
      </p:pic>
      <p:sp>
        <p:nvSpPr>
          <p:cNvPr id="46" name="stack-name-107"/>
          <p:cNvSpPr txBox="1"/>
          <p:nvPr/>
        </p:nvSpPr>
        <p:spPr>
          <a:xfrm>
            <a:off x="1536192" y="49194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Kubernetes</a:t>
            </a:r>
            <a:endParaRPr lang="en-US" sz="1500" dirty="0"/>
          </a:p>
        </p:txBody>
      </p:sp>
      <p:sp>
        <p:nvSpPr>
          <p:cNvPr id="47" name="stack-role-108"/>
          <p:cNvSpPr txBox="1"/>
          <p:nvPr/>
        </p:nvSpPr>
        <p:spPr>
          <a:xfrm>
            <a:off x="1536192" y="53035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k3s locally, EKS on AWS</a:t>
            </a:r>
            <a:endParaRPr lang="en-US" sz="1200" dirty="0"/>
          </a:p>
        </p:txBody>
      </p:sp>
      <p:sp>
        <p:nvSpPr>
          <p:cNvPr id="48" name="card-109"/>
          <p:cNvSpPr/>
          <p:nvPr/>
        </p:nvSpPr>
        <p:spPr>
          <a:xfrm>
            <a:off x="3355848" y="4572000"/>
            <a:ext cx="2606040" cy="1371600"/>
          </a:xfrm>
          <a:prstGeom prst="roundRect">
            <a:avLst>
              <a:gd name="adj" fmla="val 8000"/>
            </a:avLst>
          </a:prstGeom>
          <a:solidFill>
            <a:schemeClr val="bg2"/>
          </a:solidFill>
          <a:ln/>
        </p:spPr>
      </p:sp>
      <p:sp>
        <p:nvSpPr>
          <p:cNvPr id="49" name="badge-110"/>
          <p:cNvSpPr/>
          <p:nvPr/>
        </p:nvSpPr>
        <p:spPr>
          <a:xfrm>
            <a:off x="3584448" y="4956048"/>
            <a:ext cx="603504" cy="603504"/>
          </a:xfrm>
          <a:prstGeom prst="ellipse">
            <a:avLst/>
          </a:prstGeom>
          <a:solidFill>
            <a:schemeClr val="accent1"/>
          </a:solidFill>
          <a:ln/>
        </p:spPr>
      </p:sp>
      <p:pic>
        <p:nvPicPr>
          <p:cNvPr id="50" name="badge-icon-111" descr="preencoded.png">    </p:cNvPr>
          <p:cNvPicPr>
            <a:picLocks noChangeAspect="1"/>
          </p:cNvPicPr>
          <p:nvPr/>
        </p:nvPicPr>
        <p:blipFill>
          <a:blip r:embed="rId10"/>
          <a:stretch>
            <a:fillRect/>
          </a:stretch>
        </p:blipFill>
        <p:spPr>
          <a:xfrm>
            <a:off x="3717219" y="5088819"/>
            <a:ext cx="337962" cy="337962"/>
          </a:xfrm>
          <a:prstGeom prst="rect">
            <a:avLst/>
          </a:prstGeom>
        </p:spPr>
      </p:pic>
      <p:sp>
        <p:nvSpPr>
          <p:cNvPr id="51" name="stack-name-112"/>
          <p:cNvSpPr txBox="1"/>
          <p:nvPr/>
        </p:nvSpPr>
        <p:spPr>
          <a:xfrm>
            <a:off x="4343400" y="49194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Helm</a:t>
            </a:r>
            <a:endParaRPr lang="en-US" sz="1500" dirty="0"/>
          </a:p>
        </p:txBody>
      </p:sp>
      <p:sp>
        <p:nvSpPr>
          <p:cNvPr id="52" name="stack-role-113"/>
          <p:cNvSpPr txBox="1"/>
          <p:nvPr/>
        </p:nvSpPr>
        <p:spPr>
          <a:xfrm>
            <a:off x="4343400" y="53035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One chart, 3 value sets</a:t>
            </a:r>
            <a:endParaRPr lang="en-US" sz="1200" dirty="0"/>
          </a:p>
        </p:txBody>
      </p:sp>
      <p:sp>
        <p:nvSpPr>
          <p:cNvPr id="53" name="card-114"/>
          <p:cNvSpPr/>
          <p:nvPr/>
        </p:nvSpPr>
        <p:spPr>
          <a:xfrm>
            <a:off x="6163056" y="4572000"/>
            <a:ext cx="2606040" cy="1371600"/>
          </a:xfrm>
          <a:prstGeom prst="roundRect">
            <a:avLst>
              <a:gd name="adj" fmla="val 8000"/>
            </a:avLst>
          </a:prstGeom>
          <a:solidFill>
            <a:schemeClr val="bg2"/>
          </a:solidFill>
          <a:ln/>
        </p:spPr>
      </p:sp>
      <p:sp>
        <p:nvSpPr>
          <p:cNvPr id="54" name="badge-115"/>
          <p:cNvSpPr/>
          <p:nvPr/>
        </p:nvSpPr>
        <p:spPr>
          <a:xfrm>
            <a:off x="6391656" y="4956048"/>
            <a:ext cx="603504" cy="603504"/>
          </a:xfrm>
          <a:prstGeom prst="ellipse">
            <a:avLst/>
          </a:prstGeom>
          <a:solidFill>
            <a:schemeClr val="accent1"/>
          </a:solidFill>
          <a:ln/>
        </p:spPr>
      </p:sp>
      <p:pic>
        <p:nvPicPr>
          <p:cNvPr id="55" name="badge-icon-116" descr="preencoded.png">    </p:cNvPr>
          <p:cNvPicPr>
            <a:picLocks noChangeAspect="1"/>
          </p:cNvPicPr>
          <p:nvPr/>
        </p:nvPicPr>
        <p:blipFill>
          <a:blip r:embed="rId11"/>
          <a:stretch>
            <a:fillRect/>
          </a:stretch>
        </p:blipFill>
        <p:spPr>
          <a:xfrm>
            <a:off x="6524427" y="5088819"/>
            <a:ext cx="337962" cy="337962"/>
          </a:xfrm>
          <a:prstGeom prst="rect">
            <a:avLst/>
          </a:prstGeom>
        </p:spPr>
      </p:pic>
      <p:sp>
        <p:nvSpPr>
          <p:cNvPr id="56" name="stack-name-117"/>
          <p:cNvSpPr txBox="1"/>
          <p:nvPr/>
        </p:nvSpPr>
        <p:spPr>
          <a:xfrm>
            <a:off x="7150608" y="49194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Prometheus</a:t>
            </a:r>
            <a:endParaRPr lang="en-US" sz="1500" dirty="0"/>
          </a:p>
        </p:txBody>
      </p:sp>
      <p:sp>
        <p:nvSpPr>
          <p:cNvPr id="57" name="stack-role-118"/>
          <p:cNvSpPr txBox="1"/>
          <p:nvPr/>
        </p:nvSpPr>
        <p:spPr>
          <a:xfrm>
            <a:off x="7150608" y="53035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Metrics and alert rules</a:t>
            </a:r>
            <a:endParaRPr lang="en-US" sz="1200" dirty="0"/>
          </a:p>
        </p:txBody>
      </p:sp>
      <p:sp>
        <p:nvSpPr>
          <p:cNvPr id="58" name="card-119"/>
          <p:cNvSpPr/>
          <p:nvPr/>
        </p:nvSpPr>
        <p:spPr>
          <a:xfrm>
            <a:off x="8970264" y="4572000"/>
            <a:ext cx="2606040" cy="1371600"/>
          </a:xfrm>
          <a:prstGeom prst="roundRect">
            <a:avLst>
              <a:gd name="adj" fmla="val 8000"/>
            </a:avLst>
          </a:prstGeom>
          <a:solidFill>
            <a:schemeClr val="bg2"/>
          </a:solidFill>
          <a:ln/>
        </p:spPr>
      </p:sp>
      <p:sp>
        <p:nvSpPr>
          <p:cNvPr id="59" name="badge-120"/>
          <p:cNvSpPr/>
          <p:nvPr/>
        </p:nvSpPr>
        <p:spPr>
          <a:xfrm>
            <a:off x="9198864" y="4956048"/>
            <a:ext cx="603504" cy="603504"/>
          </a:xfrm>
          <a:prstGeom prst="ellipse">
            <a:avLst/>
          </a:prstGeom>
          <a:solidFill>
            <a:schemeClr val="accent1"/>
          </a:solidFill>
          <a:ln/>
        </p:spPr>
      </p:sp>
      <p:pic>
        <p:nvPicPr>
          <p:cNvPr id="60" name="badge-icon-121" descr="preencoded.png">    </p:cNvPr>
          <p:cNvPicPr>
            <a:picLocks noChangeAspect="1"/>
          </p:cNvPicPr>
          <p:nvPr/>
        </p:nvPicPr>
        <p:blipFill>
          <a:blip r:embed="rId12"/>
          <a:stretch>
            <a:fillRect/>
          </a:stretch>
        </p:blipFill>
        <p:spPr>
          <a:xfrm>
            <a:off x="9331635" y="5088819"/>
            <a:ext cx="337962" cy="337962"/>
          </a:xfrm>
          <a:prstGeom prst="rect">
            <a:avLst/>
          </a:prstGeom>
        </p:spPr>
      </p:pic>
      <p:sp>
        <p:nvSpPr>
          <p:cNvPr id="61" name="stack-name-122"/>
          <p:cNvSpPr txBox="1"/>
          <p:nvPr/>
        </p:nvSpPr>
        <p:spPr>
          <a:xfrm>
            <a:off x="9957816" y="4919472"/>
            <a:ext cx="1554480" cy="384048"/>
          </a:xfrm>
          <a:prstGeom prst="rect">
            <a:avLst/>
          </a:prstGeom>
          <a:noFill/>
          <a:ln/>
        </p:spPr>
        <p:txBody>
          <a:bodyPr wrap="square" lIns="0" tIns="0" rIns="0" bIns="0" rtlCol="0" anchor="ctr"/>
          <a:lstStyle/>
          <a:p>
            <a:pPr indent="0" marL="0">
              <a:buNone/>
            </a:pPr>
            <a:r>
              <a:rPr lang="en-US" sz="1500" b="1" dirty="0">
                <a:solidFill>
                  <a:schemeClr val="tx2"/>
                </a:solidFill>
              </a:rPr>
              <a:t>Grafana</a:t>
            </a:r>
            <a:endParaRPr lang="en-US" sz="1500" dirty="0"/>
          </a:p>
        </p:txBody>
      </p:sp>
      <p:sp>
        <p:nvSpPr>
          <p:cNvPr id="62" name="stack-role-123"/>
          <p:cNvSpPr txBox="1"/>
          <p:nvPr/>
        </p:nvSpPr>
        <p:spPr>
          <a:xfrm>
            <a:off x="9957816" y="5303520"/>
            <a:ext cx="1554480" cy="365760"/>
          </a:xfrm>
          <a:prstGeom prst="rect">
            <a:avLst/>
          </a:prstGeom>
          <a:noFill/>
          <a:ln/>
        </p:spPr>
        <p:txBody>
          <a:bodyPr wrap="square" lIns="0" tIns="0" rIns="0" bIns="0" rtlCol="0" anchor="t"/>
          <a:lstStyle/>
          <a:p>
            <a:pPr indent="0" marL="0">
              <a:buNone/>
            </a:pPr>
            <a:r>
              <a:rPr lang="en-US" sz="1200" dirty="0">
                <a:solidFill>
                  <a:schemeClr val="accent4"/>
                </a:solidFill>
              </a:rPr>
              <a:t>Dashboard shipped as code</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Application: API and data</a:t>
            </a:r>
            <a:endParaRPr lang="en-US" sz="3600" dirty="0"/>
          </a:p>
        </p:txBody>
      </p:sp>
      <p:sp>
        <p:nvSpPr>
          <p:cNvPr id="3" name="stat-124"/>
          <p:cNvSpPr txBox="1"/>
          <p:nvPr/>
        </p:nvSpPr>
        <p:spPr>
          <a:xfrm>
            <a:off x="548640" y="1325880"/>
            <a:ext cx="393192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10</a:t>
            </a:r>
            <a:endParaRPr lang="en-US" sz="4800" dirty="0"/>
          </a:p>
        </p:txBody>
      </p:sp>
      <p:sp>
        <p:nvSpPr>
          <p:cNvPr id="4" name="stat-label-125"/>
          <p:cNvSpPr txBox="1"/>
          <p:nvPr/>
        </p:nvSpPr>
        <p:spPr>
          <a:xfrm>
            <a:off x="548640" y="2148840"/>
            <a:ext cx="3931920" cy="548640"/>
          </a:xfrm>
          <a:prstGeom prst="rect">
            <a:avLst/>
          </a:prstGeom>
          <a:noFill/>
          <a:ln/>
        </p:spPr>
        <p:txBody>
          <a:bodyPr wrap="square" lIns="0" tIns="0" rIns="0" bIns="0" rtlCol="0" anchor="t"/>
          <a:lstStyle/>
          <a:p>
            <a:pPr indent="0" marL="0">
              <a:buNone/>
            </a:pPr>
            <a:r>
              <a:rPr lang="en-US" sz="1400" dirty="0">
                <a:solidFill>
                  <a:schemeClr val="accent4"/>
                </a:solidFill>
              </a:rPr>
              <a:t>REST endpoints - GET, POST, PUT, DELETE, plus stock adjust</a:t>
            </a:r>
            <a:endParaRPr lang="en-US" sz="1400" dirty="0"/>
          </a:p>
        </p:txBody>
      </p:sp>
      <p:sp>
        <p:nvSpPr>
          <p:cNvPr id="5" name="stat-126"/>
          <p:cNvSpPr txBox="1"/>
          <p:nvPr/>
        </p:nvSpPr>
        <p:spPr>
          <a:xfrm>
            <a:off x="548640" y="2880360"/>
            <a:ext cx="393192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2</a:t>
            </a:r>
            <a:endParaRPr lang="en-US" sz="4800" dirty="0"/>
          </a:p>
        </p:txBody>
      </p:sp>
      <p:sp>
        <p:nvSpPr>
          <p:cNvPr id="6" name="stat-label-127"/>
          <p:cNvSpPr txBox="1"/>
          <p:nvPr/>
        </p:nvSpPr>
        <p:spPr>
          <a:xfrm>
            <a:off x="548640" y="3703320"/>
            <a:ext cx="3931920" cy="548640"/>
          </a:xfrm>
          <a:prstGeom prst="rect">
            <a:avLst/>
          </a:prstGeom>
          <a:noFill/>
          <a:ln/>
        </p:spPr>
        <p:txBody>
          <a:bodyPr wrap="square" lIns="0" tIns="0" rIns="0" bIns="0" rtlCol="0" anchor="t"/>
          <a:lstStyle/>
          <a:p>
            <a:pPr indent="0" marL="0">
              <a:buNone/>
            </a:pPr>
            <a:r>
              <a:rPr lang="en-US" sz="1400" dirty="0">
                <a:solidFill>
                  <a:schemeClr val="accent4"/>
                </a:solidFill>
              </a:rPr>
              <a:t>Alembic migrations - products and the stock_movements audit trail</a:t>
            </a:r>
            <a:endParaRPr lang="en-US" sz="1400" dirty="0"/>
          </a:p>
        </p:txBody>
      </p:sp>
      <p:sp>
        <p:nvSpPr>
          <p:cNvPr id="7" name="stat-128"/>
          <p:cNvSpPr txBox="1"/>
          <p:nvPr/>
        </p:nvSpPr>
        <p:spPr>
          <a:xfrm>
            <a:off x="548640" y="4434840"/>
            <a:ext cx="393192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a:t>
            </a:r>
            <a:endParaRPr lang="en-US" sz="4800" dirty="0"/>
          </a:p>
        </p:txBody>
      </p:sp>
      <p:sp>
        <p:nvSpPr>
          <p:cNvPr id="8" name="stat-label-129"/>
          <p:cNvSpPr txBox="1"/>
          <p:nvPr/>
        </p:nvSpPr>
        <p:spPr>
          <a:xfrm>
            <a:off x="548640" y="5257800"/>
            <a:ext cx="3931920" cy="548640"/>
          </a:xfrm>
          <a:prstGeom prst="rect">
            <a:avLst/>
          </a:prstGeom>
          <a:noFill/>
          <a:ln/>
        </p:spPr>
        <p:txBody>
          <a:bodyPr wrap="square" lIns="0" tIns="0" rIns="0" bIns="0" rtlCol="0" anchor="t"/>
          <a:lstStyle/>
          <a:p>
            <a:pPr indent="0" marL="0">
              <a:buNone/>
            </a:pPr>
            <a:r>
              <a:rPr lang="en-US" sz="1400" dirty="0">
                <a:solidFill>
                  <a:schemeClr val="accent4"/>
                </a:solidFill>
              </a:rPr>
              <a:t>Postgres advisory lock - replicas run migrations one at a time</a:t>
            </a:r>
            <a:endParaRPr lang="en-US" sz="1400" dirty="0"/>
          </a:p>
        </p:txBody>
      </p:sp>
      <p:pic>
        <p:nvPicPr>
          <p:cNvPr id="9" name="screenshot-130" descr="/work/img/swagger.png">    </p:cNvPr>
          <p:cNvPicPr>
            <a:picLocks noChangeAspect="1"/>
          </p:cNvPicPr>
          <p:nvPr/>
        </p:nvPicPr>
        <p:blipFill>
          <a:blip r:embed="rId1"/>
          <a:stretch>
            <a:fillRect/>
          </a:stretch>
        </p:blipFill>
        <p:spPr>
          <a:xfrm>
            <a:off x="4892040" y="1371600"/>
            <a:ext cx="6720840" cy="4416552"/>
          </a:xfrm>
          <a:prstGeom prst="rect">
            <a:avLst/>
          </a:prstGeom>
          <a:effectLst>
            <a:outerShdw sx="100000" sy="100000" kx="0" ky="0" algn="bl" rotWithShape="0" blurRad="101600" dist="25400" dir="5400000">
              <a:srgbClr val="0F1C24">
                <a:alpha val="18000"/>
              </a:srgbClr>
            </a:outerShdw>
          </a:effectLst>
        </p:spPr>
      </p:pic>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Testing: the first quality gate</a:t>
            </a:r>
            <a:endParaRPr lang="en-US" sz="3600" dirty="0"/>
          </a:p>
        </p:txBody>
      </p:sp>
      <p:sp>
        <p:nvSpPr>
          <p:cNvPr id="3" name="stat-131"/>
          <p:cNvSpPr txBox="1"/>
          <p:nvPr/>
        </p:nvSpPr>
        <p:spPr>
          <a:xfrm>
            <a:off x="548640" y="1280160"/>
            <a:ext cx="32918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20</a:t>
            </a:r>
            <a:endParaRPr lang="en-US" sz="4800" dirty="0"/>
          </a:p>
        </p:txBody>
      </p:sp>
      <p:sp>
        <p:nvSpPr>
          <p:cNvPr id="4" name="stat-label-132"/>
          <p:cNvSpPr txBox="1"/>
          <p:nvPr/>
        </p:nvSpPr>
        <p:spPr>
          <a:xfrm>
            <a:off x="548640" y="2103120"/>
            <a:ext cx="3291840" cy="548640"/>
          </a:xfrm>
          <a:prstGeom prst="rect">
            <a:avLst/>
          </a:prstGeom>
          <a:noFill/>
          <a:ln/>
        </p:spPr>
        <p:txBody>
          <a:bodyPr wrap="square" lIns="0" tIns="0" rIns="0" bIns="0" rtlCol="0" anchor="t"/>
          <a:lstStyle/>
          <a:p>
            <a:pPr indent="0" marL="0">
              <a:buNone/>
            </a:pPr>
            <a:r>
              <a:rPr lang="en-US" sz="1400" dirty="0">
                <a:solidFill>
                  <a:schemeClr val="accent4"/>
                </a:solidFill>
              </a:rPr>
              <a:t>pytest tests, all passing</a:t>
            </a:r>
            <a:endParaRPr lang="en-US" sz="1400" dirty="0"/>
          </a:p>
        </p:txBody>
      </p:sp>
      <p:sp>
        <p:nvSpPr>
          <p:cNvPr id="5" name="stat-133"/>
          <p:cNvSpPr txBox="1"/>
          <p:nvPr/>
        </p:nvSpPr>
        <p:spPr>
          <a:xfrm>
            <a:off x="4434840" y="1280160"/>
            <a:ext cx="32918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89%</a:t>
            </a:r>
            <a:endParaRPr lang="en-US" sz="4800" dirty="0"/>
          </a:p>
        </p:txBody>
      </p:sp>
      <p:sp>
        <p:nvSpPr>
          <p:cNvPr id="6" name="stat-label-134"/>
          <p:cNvSpPr txBox="1"/>
          <p:nvPr/>
        </p:nvSpPr>
        <p:spPr>
          <a:xfrm>
            <a:off x="4434840" y="2103120"/>
            <a:ext cx="3291840" cy="548640"/>
          </a:xfrm>
          <a:prstGeom prst="rect">
            <a:avLst/>
          </a:prstGeom>
          <a:noFill/>
          <a:ln/>
        </p:spPr>
        <p:txBody>
          <a:bodyPr wrap="square" lIns="0" tIns="0" rIns="0" bIns="0" rtlCol="0" anchor="t"/>
          <a:lstStyle/>
          <a:p>
            <a:pPr indent="0" marL="0">
              <a:buNone/>
            </a:pPr>
            <a:r>
              <a:rPr lang="en-US" sz="1400" dirty="0">
                <a:solidFill>
                  <a:schemeClr val="accent4"/>
                </a:solidFill>
              </a:rPr>
              <a:t>code coverage</a:t>
            </a:r>
            <a:endParaRPr lang="en-US" sz="1400" dirty="0"/>
          </a:p>
        </p:txBody>
      </p:sp>
      <p:sp>
        <p:nvSpPr>
          <p:cNvPr id="7" name="stat-135"/>
          <p:cNvSpPr txBox="1"/>
          <p:nvPr/>
        </p:nvSpPr>
        <p:spPr>
          <a:xfrm>
            <a:off x="8321040" y="1280160"/>
            <a:ext cx="32918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11</a:t>
            </a:r>
            <a:endParaRPr lang="en-US" sz="4800" dirty="0"/>
          </a:p>
        </p:txBody>
      </p:sp>
      <p:sp>
        <p:nvSpPr>
          <p:cNvPr id="8" name="stat-label-136"/>
          <p:cNvSpPr txBox="1"/>
          <p:nvPr/>
        </p:nvSpPr>
        <p:spPr>
          <a:xfrm>
            <a:off x="8321040" y="2103120"/>
            <a:ext cx="3291840" cy="548640"/>
          </a:xfrm>
          <a:prstGeom prst="rect">
            <a:avLst/>
          </a:prstGeom>
          <a:noFill/>
          <a:ln/>
        </p:spPr>
        <p:txBody>
          <a:bodyPr wrap="square" lIns="0" tIns="0" rIns="0" bIns="0" rtlCol="0" anchor="t"/>
          <a:lstStyle/>
          <a:p>
            <a:pPr indent="0" marL="0">
              <a:buNone/>
            </a:pPr>
            <a:r>
              <a:rPr lang="en-US" sz="1400" dirty="0">
                <a:solidFill>
                  <a:schemeClr val="accent4"/>
                </a:solidFill>
              </a:rPr>
              <a:t>routes covered: every endpoint + /metrics</a:t>
            </a:r>
            <a:endParaRPr lang="en-US" sz="1400" dirty="0"/>
          </a:p>
        </p:txBody>
      </p:sp>
      <p:sp>
        <p:nvSpPr>
          <p:cNvPr id="9" name="card-137"/>
          <p:cNvSpPr/>
          <p:nvPr/>
        </p:nvSpPr>
        <p:spPr>
          <a:xfrm>
            <a:off x="548640" y="3063240"/>
            <a:ext cx="3520440" cy="2514600"/>
          </a:xfrm>
          <a:prstGeom prst="roundRect">
            <a:avLst>
              <a:gd name="adj" fmla="val 4364"/>
            </a:avLst>
          </a:prstGeom>
          <a:solidFill>
            <a:schemeClr val="bg2"/>
          </a:solidFill>
          <a:ln/>
        </p:spPr>
      </p:sp>
      <p:sp>
        <p:nvSpPr>
          <p:cNvPr id="10" name="badge-138"/>
          <p:cNvSpPr/>
          <p:nvPr/>
        </p:nvSpPr>
        <p:spPr>
          <a:xfrm>
            <a:off x="822960" y="3337560"/>
            <a:ext cx="603504" cy="603504"/>
          </a:xfrm>
          <a:prstGeom prst="ellipse">
            <a:avLst/>
          </a:prstGeom>
          <a:solidFill>
            <a:schemeClr val="accent1"/>
          </a:solidFill>
          <a:ln/>
        </p:spPr>
      </p:sp>
      <p:pic>
        <p:nvPicPr>
          <p:cNvPr id="11" name="badge-icon-139" descr="preencoded.png">    </p:cNvPr>
          <p:cNvPicPr>
            <a:picLocks noChangeAspect="1"/>
          </p:cNvPicPr>
          <p:nvPr/>
        </p:nvPicPr>
        <p:blipFill>
          <a:blip r:embed="rId1"/>
          <a:stretch>
            <a:fillRect/>
          </a:stretch>
        </p:blipFill>
        <p:spPr>
          <a:xfrm>
            <a:off x="955731" y="3470331"/>
            <a:ext cx="337962" cy="337962"/>
          </a:xfrm>
          <a:prstGeom prst="rect">
            <a:avLst/>
          </a:prstGeom>
        </p:spPr>
      </p:pic>
      <p:sp>
        <p:nvSpPr>
          <p:cNvPr id="12" name="gate-title-140"/>
          <p:cNvSpPr txBox="1"/>
          <p:nvPr/>
        </p:nvSpPr>
        <p:spPr>
          <a:xfrm>
            <a:off x="822960" y="41148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Throwaway test database</a:t>
            </a:r>
            <a:endParaRPr lang="en-US" sz="1700" dirty="0"/>
          </a:p>
        </p:txBody>
      </p:sp>
      <p:sp>
        <p:nvSpPr>
          <p:cNvPr id="13" name="gate-text-141"/>
          <p:cNvSpPr txBox="1"/>
          <p:nvPr/>
        </p:nvSpPr>
        <p:spPr>
          <a:xfrm>
            <a:off x="822960" y="4526280"/>
            <a:ext cx="3017520" cy="914400"/>
          </a:xfrm>
          <a:prstGeom prst="rect">
            <a:avLst/>
          </a:prstGeom>
          <a:noFill/>
          <a:ln/>
        </p:spPr>
        <p:txBody>
          <a:bodyPr wrap="square" lIns="0" tIns="0" rIns="0" bIns="0" rtlCol="0" anchor="t"/>
          <a:lstStyle/>
          <a:p>
            <a:pPr indent="0" marL="0">
              <a:buNone/>
            </a:pPr>
            <a:r>
              <a:rPr lang="en-US" sz="1400" dirty="0">
                <a:solidFill>
                  <a:schemeClr val="accent4"/>
                </a:solidFill>
              </a:rPr>
              <a:t>A fresh SQLite DB built by the real Alembic migrations - production is never touched</a:t>
            </a:r>
            <a:endParaRPr lang="en-US" sz="1400" dirty="0"/>
          </a:p>
        </p:txBody>
      </p:sp>
      <p:sp>
        <p:nvSpPr>
          <p:cNvPr id="14" name="card-142"/>
          <p:cNvSpPr/>
          <p:nvPr/>
        </p:nvSpPr>
        <p:spPr>
          <a:xfrm>
            <a:off x="4343400" y="3063240"/>
            <a:ext cx="3520440" cy="2514600"/>
          </a:xfrm>
          <a:prstGeom prst="roundRect">
            <a:avLst>
              <a:gd name="adj" fmla="val 4364"/>
            </a:avLst>
          </a:prstGeom>
          <a:solidFill>
            <a:schemeClr val="bg2"/>
          </a:solidFill>
          <a:ln/>
        </p:spPr>
      </p:sp>
      <p:sp>
        <p:nvSpPr>
          <p:cNvPr id="15" name="badge-143"/>
          <p:cNvSpPr/>
          <p:nvPr/>
        </p:nvSpPr>
        <p:spPr>
          <a:xfrm>
            <a:off x="4617720" y="3337560"/>
            <a:ext cx="603504" cy="603504"/>
          </a:xfrm>
          <a:prstGeom prst="ellipse">
            <a:avLst/>
          </a:prstGeom>
          <a:solidFill>
            <a:schemeClr val="accent1"/>
          </a:solidFill>
          <a:ln/>
        </p:spPr>
      </p:sp>
      <p:pic>
        <p:nvPicPr>
          <p:cNvPr id="16" name="badge-icon-144" descr="preencoded.png">    </p:cNvPr>
          <p:cNvPicPr>
            <a:picLocks noChangeAspect="1"/>
          </p:cNvPicPr>
          <p:nvPr/>
        </p:nvPicPr>
        <p:blipFill>
          <a:blip r:embed="rId2"/>
          <a:stretch>
            <a:fillRect/>
          </a:stretch>
        </p:blipFill>
        <p:spPr>
          <a:xfrm>
            <a:off x="4750491" y="3470331"/>
            <a:ext cx="337962" cy="337962"/>
          </a:xfrm>
          <a:prstGeom prst="rect">
            <a:avLst/>
          </a:prstGeom>
        </p:spPr>
      </p:pic>
      <p:sp>
        <p:nvSpPr>
          <p:cNvPr id="17" name="gate-title-145"/>
          <p:cNvSpPr txBox="1"/>
          <p:nvPr/>
        </p:nvSpPr>
        <p:spPr>
          <a:xfrm>
            <a:off x="4617720" y="41148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Real PostgreSQL in CI</a:t>
            </a:r>
            <a:endParaRPr lang="en-US" sz="1700" dirty="0"/>
          </a:p>
        </p:txBody>
      </p:sp>
      <p:sp>
        <p:nvSpPr>
          <p:cNvPr id="18" name="gate-text-146"/>
          <p:cNvSpPr txBox="1"/>
          <p:nvPr/>
        </p:nvSpPr>
        <p:spPr>
          <a:xfrm>
            <a:off x="4617720" y="4526280"/>
            <a:ext cx="3017520" cy="914400"/>
          </a:xfrm>
          <a:prstGeom prst="rect">
            <a:avLst/>
          </a:prstGeom>
          <a:noFill/>
          <a:ln/>
        </p:spPr>
        <p:txBody>
          <a:bodyPr wrap="square" lIns="0" tIns="0" rIns="0" bIns="0" rtlCol="0" anchor="t"/>
          <a:lstStyle/>
          <a:p>
            <a:pPr indent="0" marL="0">
              <a:buNone/>
            </a:pPr>
            <a:r>
              <a:rPr lang="en-US" sz="1400" dirty="0">
                <a:solidFill>
                  <a:schemeClr val="accent4"/>
                </a:solidFill>
              </a:rPr>
              <a:t>Migrations go upgrade → downgrade → upgrade on Postgres 18 to prove they reverse</a:t>
            </a:r>
            <a:endParaRPr lang="en-US" sz="1400" dirty="0"/>
          </a:p>
        </p:txBody>
      </p:sp>
      <p:sp>
        <p:nvSpPr>
          <p:cNvPr id="19" name="card-147"/>
          <p:cNvSpPr/>
          <p:nvPr/>
        </p:nvSpPr>
        <p:spPr>
          <a:xfrm>
            <a:off x="8138160" y="3063240"/>
            <a:ext cx="3520440" cy="2514600"/>
          </a:xfrm>
          <a:prstGeom prst="roundRect">
            <a:avLst>
              <a:gd name="adj" fmla="val 4364"/>
            </a:avLst>
          </a:prstGeom>
          <a:solidFill>
            <a:schemeClr val="bg2"/>
          </a:solidFill>
          <a:ln/>
        </p:spPr>
      </p:sp>
      <p:sp>
        <p:nvSpPr>
          <p:cNvPr id="20" name="badge-148"/>
          <p:cNvSpPr/>
          <p:nvPr/>
        </p:nvSpPr>
        <p:spPr>
          <a:xfrm>
            <a:off x="8412480" y="3337560"/>
            <a:ext cx="603504" cy="603504"/>
          </a:xfrm>
          <a:prstGeom prst="ellipse">
            <a:avLst/>
          </a:prstGeom>
          <a:solidFill>
            <a:schemeClr val="accent1"/>
          </a:solidFill>
          <a:ln/>
        </p:spPr>
      </p:sp>
      <p:pic>
        <p:nvPicPr>
          <p:cNvPr id="21" name="badge-icon-149" descr="preencoded.png">    </p:cNvPr>
          <p:cNvPicPr>
            <a:picLocks noChangeAspect="1"/>
          </p:cNvPicPr>
          <p:nvPr/>
        </p:nvPicPr>
        <p:blipFill>
          <a:blip r:embed="rId3"/>
          <a:stretch>
            <a:fillRect/>
          </a:stretch>
        </p:blipFill>
        <p:spPr>
          <a:xfrm>
            <a:off x="8545251" y="3470331"/>
            <a:ext cx="337962" cy="337962"/>
          </a:xfrm>
          <a:prstGeom prst="rect">
            <a:avLst/>
          </a:prstGeom>
        </p:spPr>
      </p:pic>
      <p:sp>
        <p:nvSpPr>
          <p:cNvPr id="22" name="gate-title-150"/>
          <p:cNvSpPr txBox="1"/>
          <p:nvPr/>
        </p:nvSpPr>
        <p:spPr>
          <a:xfrm>
            <a:off x="8412480" y="4114800"/>
            <a:ext cx="3017520" cy="365760"/>
          </a:xfrm>
          <a:prstGeom prst="rect">
            <a:avLst/>
          </a:prstGeom>
          <a:noFill/>
          <a:ln/>
        </p:spPr>
        <p:txBody>
          <a:bodyPr wrap="square" lIns="0" tIns="0" rIns="0" bIns="0" rtlCol="0" anchor="t"/>
          <a:lstStyle/>
          <a:p>
            <a:pPr indent="0" marL="0">
              <a:buNone/>
            </a:pPr>
            <a:r>
              <a:rPr lang="en-US" sz="1700" b="1" dirty="0">
                <a:solidFill>
                  <a:schemeClr val="tx2"/>
                </a:solidFill>
              </a:rPr>
              <a:t>Fail fast</a:t>
            </a:r>
            <a:endParaRPr lang="en-US" sz="1700" dirty="0"/>
          </a:p>
        </p:txBody>
      </p:sp>
      <p:sp>
        <p:nvSpPr>
          <p:cNvPr id="23" name="gate-text-151"/>
          <p:cNvSpPr txBox="1"/>
          <p:nvPr/>
        </p:nvSpPr>
        <p:spPr>
          <a:xfrm>
            <a:off x="8412480" y="4526280"/>
            <a:ext cx="3017520" cy="914400"/>
          </a:xfrm>
          <a:prstGeom prst="rect">
            <a:avLst/>
          </a:prstGeom>
          <a:noFill/>
          <a:ln/>
        </p:spPr>
        <p:txBody>
          <a:bodyPr wrap="square" lIns="0" tIns="0" rIns="0" bIns="0" rtlCol="0" anchor="t"/>
          <a:lstStyle/>
          <a:p>
            <a:pPr indent="0" marL="0">
              <a:buNone/>
            </a:pPr>
            <a:r>
              <a:rPr lang="en-US" sz="1400" dirty="0">
                <a:solidFill>
                  <a:schemeClr val="accent4"/>
                </a:solidFill>
              </a:rPr>
              <a:t>A failing test stops the pipeline before any image is built or pushed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Docker: two images, one command</a:t>
            </a:r>
            <a:endParaRPr lang="en-US" sz="3600" dirty="0"/>
          </a:p>
        </p:txBody>
      </p:sp>
      <p:sp>
        <p:nvSpPr>
          <p:cNvPr id="3" name="card-152"/>
          <p:cNvSpPr/>
          <p:nvPr/>
        </p:nvSpPr>
        <p:spPr>
          <a:xfrm>
            <a:off x="548640" y="1371600"/>
            <a:ext cx="5760720" cy="2103120"/>
          </a:xfrm>
          <a:prstGeom prst="roundRect">
            <a:avLst>
              <a:gd name="adj" fmla="val 5217"/>
            </a:avLst>
          </a:prstGeom>
          <a:solidFill>
            <a:schemeClr val="bg2"/>
          </a:solidFill>
          <a:ln/>
        </p:spPr>
      </p:sp>
      <p:sp>
        <p:nvSpPr>
          <p:cNvPr id="4" name="badge-153"/>
          <p:cNvSpPr/>
          <p:nvPr/>
        </p:nvSpPr>
        <p:spPr>
          <a:xfrm>
            <a:off x="822960" y="1645920"/>
            <a:ext cx="603504" cy="603504"/>
          </a:xfrm>
          <a:prstGeom prst="ellipse">
            <a:avLst/>
          </a:prstGeom>
          <a:solidFill>
            <a:schemeClr val="accent1"/>
          </a:solidFill>
          <a:ln/>
        </p:spPr>
      </p:sp>
      <p:pic>
        <p:nvPicPr>
          <p:cNvPr id="5" name="badge-icon-154" descr="preencoded.png">    </p:cNvPr>
          <p:cNvPicPr>
            <a:picLocks noChangeAspect="1"/>
          </p:cNvPicPr>
          <p:nvPr/>
        </p:nvPicPr>
        <p:blipFill>
          <a:blip r:embed="rId1"/>
          <a:stretch>
            <a:fillRect/>
          </a:stretch>
        </p:blipFill>
        <p:spPr>
          <a:xfrm>
            <a:off x="955731" y="1778691"/>
            <a:ext cx="337962" cy="337962"/>
          </a:xfrm>
          <a:prstGeom prst="rect">
            <a:avLst/>
          </a:prstGeom>
        </p:spPr>
      </p:pic>
      <p:sp>
        <p:nvSpPr>
          <p:cNvPr id="6" name="image-title-155"/>
          <p:cNvSpPr txBox="1"/>
          <p:nvPr/>
        </p:nvSpPr>
        <p:spPr>
          <a:xfrm>
            <a:off x="1645920" y="1664208"/>
            <a:ext cx="4389120" cy="411480"/>
          </a:xfrm>
          <a:prstGeom prst="rect">
            <a:avLst/>
          </a:prstGeom>
          <a:noFill/>
          <a:ln/>
        </p:spPr>
        <p:txBody>
          <a:bodyPr wrap="square" lIns="0" tIns="0" rIns="0" bIns="0" rtlCol="0" anchor="t"/>
          <a:lstStyle/>
          <a:p>
            <a:pPr indent="0" marL="0">
              <a:buNone/>
            </a:pPr>
            <a:r>
              <a:rPr lang="en-US" sz="1800" b="1" dirty="0">
                <a:solidFill>
                  <a:schemeClr val="tx2"/>
                </a:solidFill>
              </a:rPr>
              <a:t>Backend image</a:t>
            </a:r>
            <a:endParaRPr lang="en-US" sz="1800" dirty="0"/>
          </a:p>
        </p:txBody>
      </p:sp>
      <p:sp>
        <p:nvSpPr>
          <p:cNvPr id="7" name="image-text-156"/>
          <p:cNvSpPr txBox="1"/>
          <p:nvPr/>
        </p:nvSpPr>
        <p:spPr>
          <a:xfrm>
            <a:off x="1645920" y="2103120"/>
            <a:ext cx="4434840" cy="868680"/>
          </a:xfrm>
          <a:prstGeom prst="rect">
            <a:avLst/>
          </a:prstGeom>
          <a:noFill/>
          <a:ln/>
        </p:spPr>
        <p:txBody>
          <a:bodyPr wrap="square" lIns="0" tIns="0" rIns="0" bIns="0" rtlCol="0" anchor="t"/>
          <a:lstStyle/>
          <a:p>
            <a:pPr indent="0" marL="0">
              <a:buNone/>
            </a:pPr>
            <a:r>
              <a:rPr lang="en-US" sz="1400" dirty="0">
                <a:solidFill>
                  <a:schemeClr val="tx1"/>
                </a:solidFill>
              </a:rPr>
              <a:t>python:3.12-slim, dependencies cached in their own layer. On start: wait for DB → alembic upgrade → uvicorn.</a:t>
            </a:r>
            <a:endParaRPr lang="en-US" sz="1400" dirty="0"/>
          </a:p>
        </p:txBody>
      </p:sp>
      <p:sp>
        <p:nvSpPr>
          <p:cNvPr id="8" name="image-user-157"/>
          <p:cNvSpPr txBox="1"/>
          <p:nvPr/>
        </p:nvSpPr>
        <p:spPr>
          <a:xfrm>
            <a:off x="1645920" y="2971800"/>
            <a:ext cx="4389120" cy="320040"/>
          </a:xfrm>
          <a:prstGeom prst="rect">
            <a:avLst/>
          </a:prstGeom>
          <a:noFill/>
          <a:ln/>
        </p:spPr>
        <p:txBody>
          <a:bodyPr wrap="square" lIns="0" tIns="0" rIns="0" bIns="0" rtlCol="0" anchor="t"/>
          <a:lstStyle/>
          <a:p>
            <a:pPr indent="0" marL="0">
              <a:buNone/>
            </a:pPr>
            <a:r>
              <a:rPr lang="en-US" sz="1400" b="1" dirty="0">
                <a:solidFill>
                  <a:schemeClr val="accent1"/>
                </a:solidFill>
              </a:rPr>
              <a:t>Runs as UID 10001</a:t>
            </a:r>
            <a:endParaRPr lang="en-US" sz="1400" dirty="0"/>
          </a:p>
        </p:txBody>
      </p:sp>
      <p:sp>
        <p:nvSpPr>
          <p:cNvPr id="9" name="card-158"/>
          <p:cNvSpPr/>
          <p:nvPr/>
        </p:nvSpPr>
        <p:spPr>
          <a:xfrm>
            <a:off x="548640" y="3749040"/>
            <a:ext cx="5760720" cy="2103120"/>
          </a:xfrm>
          <a:prstGeom prst="roundRect">
            <a:avLst>
              <a:gd name="adj" fmla="val 5217"/>
            </a:avLst>
          </a:prstGeom>
          <a:solidFill>
            <a:schemeClr val="bg2"/>
          </a:solidFill>
          <a:ln/>
        </p:spPr>
      </p:sp>
      <p:sp>
        <p:nvSpPr>
          <p:cNvPr id="10" name="badge-159"/>
          <p:cNvSpPr/>
          <p:nvPr/>
        </p:nvSpPr>
        <p:spPr>
          <a:xfrm>
            <a:off x="822960" y="4023360"/>
            <a:ext cx="603504" cy="603504"/>
          </a:xfrm>
          <a:prstGeom prst="ellipse">
            <a:avLst/>
          </a:prstGeom>
          <a:solidFill>
            <a:schemeClr val="accent1"/>
          </a:solidFill>
          <a:ln/>
        </p:spPr>
      </p:sp>
      <p:pic>
        <p:nvPicPr>
          <p:cNvPr id="11" name="badge-icon-160" descr="preencoded.png">    </p:cNvPr>
          <p:cNvPicPr>
            <a:picLocks noChangeAspect="1"/>
          </p:cNvPicPr>
          <p:nvPr/>
        </p:nvPicPr>
        <p:blipFill>
          <a:blip r:embed="rId2"/>
          <a:stretch>
            <a:fillRect/>
          </a:stretch>
        </p:blipFill>
        <p:spPr>
          <a:xfrm>
            <a:off x="955731" y="4156131"/>
            <a:ext cx="337962" cy="337962"/>
          </a:xfrm>
          <a:prstGeom prst="rect">
            <a:avLst/>
          </a:prstGeom>
        </p:spPr>
      </p:pic>
      <p:sp>
        <p:nvSpPr>
          <p:cNvPr id="12" name="image-title-161"/>
          <p:cNvSpPr txBox="1"/>
          <p:nvPr/>
        </p:nvSpPr>
        <p:spPr>
          <a:xfrm>
            <a:off x="1645920" y="4041648"/>
            <a:ext cx="4389120" cy="411480"/>
          </a:xfrm>
          <a:prstGeom prst="rect">
            <a:avLst/>
          </a:prstGeom>
          <a:noFill/>
          <a:ln/>
        </p:spPr>
        <p:txBody>
          <a:bodyPr wrap="square" lIns="0" tIns="0" rIns="0" bIns="0" rtlCol="0" anchor="t"/>
          <a:lstStyle/>
          <a:p>
            <a:pPr indent="0" marL="0">
              <a:buNone/>
            </a:pPr>
            <a:r>
              <a:rPr lang="en-US" sz="1800" b="1" dirty="0">
                <a:solidFill>
                  <a:schemeClr val="tx2"/>
                </a:solidFill>
              </a:rPr>
              <a:t>Frontend image</a:t>
            </a:r>
            <a:endParaRPr lang="en-US" sz="1800" dirty="0"/>
          </a:p>
        </p:txBody>
      </p:sp>
      <p:sp>
        <p:nvSpPr>
          <p:cNvPr id="13" name="image-text-162"/>
          <p:cNvSpPr txBox="1"/>
          <p:nvPr/>
        </p:nvSpPr>
        <p:spPr>
          <a:xfrm>
            <a:off x="1645920" y="4480560"/>
            <a:ext cx="4434840" cy="868680"/>
          </a:xfrm>
          <a:prstGeom prst="rect">
            <a:avLst/>
          </a:prstGeom>
          <a:noFill/>
          <a:ln/>
        </p:spPr>
        <p:txBody>
          <a:bodyPr wrap="square" lIns="0" tIns="0" rIns="0" bIns="0" rtlCol="0" anchor="t"/>
          <a:lstStyle/>
          <a:p>
            <a:pPr indent="0" marL="0">
              <a:buNone/>
            </a:pPr>
            <a:r>
              <a:rPr lang="en-US" sz="1400" dirty="0">
                <a:solidFill>
                  <a:schemeClr val="tx1"/>
                </a:solidFill>
              </a:rPr>
              <a:t>Multi-stage: Node 22 builds the React app, then unprivileged nginx serves only the static files.</a:t>
            </a:r>
            <a:endParaRPr lang="en-US" sz="1400" dirty="0"/>
          </a:p>
        </p:txBody>
      </p:sp>
      <p:sp>
        <p:nvSpPr>
          <p:cNvPr id="14" name="image-user-163"/>
          <p:cNvSpPr txBox="1"/>
          <p:nvPr/>
        </p:nvSpPr>
        <p:spPr>
          <a:xfrm>
            <a:off x="1645920" y="5349240"/>
            <a:ext cx="4389120" cy="320040"/>
          </a:xfrm>
          <a:prstGeom prst="rect">
            <a:avLst/>
          </a:prstGeom>
          <a:noFill/>
          <a:ln/>
        </p:spPr>
        <p:txBody>
          <a:bodyPr wrap="square" lIns="0" tIns="0" rIns="0" bIns="0" rtlCol="0" anchor="t"/>
          <a:lstStyle/>
          <a:p>
            <a:pPr indent="0" marL="0">
              <a:buNone/>
            </a:pPr>
            <a:r>
              <a:rPr lang="en-US" sz="1400" b="1" dirty="0">
                <a:solidFill>
                  <a:schemeClr val="accent1"/>
                </a:solidFill>
              </a:rPr>
              <a:t>Runs as UID 101</a:t>
            </a:r>
            <a:endParaRPr lang="en-US" sz="1400" dirty="0"/>
          </a:p>
        </p:txBody>
      </p:sp>
      <p:sp>
        <p:nvSpPr>
          <p:cNvPr id="15" name="command-164"/>
          <p:cNvSpPr txBox="1"/>
          <p:nvPr/>
        </p:nvSpPr>
        <p:spPr>
          <a:xfrm>
            <a:off x="6858000" y="1417320"/>
            <a:ext cx="4754880" cy="457200"/>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docker compose up --build</a:t>
            </a:r>
            <a:endParaRPr lang="en-US" sz="1800" dirty="0"/>
          </a:p>
        </p:txBody>
      </p:sp>
      <p:sp>
        <p:nvSpPr>
          <p:cNvPr id="16" name="box-165"/>
          <p:cNvSpPr/>
          <p:nvPr/>
        </p:nvSpPr>
        <p:spPr>
          <a:xfrm>
            <a:off x="6858000" y="2148840"/>
            <a:ext cx="4754880" cy="822960"/>
          </a:xfrm>
          <a:prstGeom prst="roundRect">
            <a:avLst>
              <a:gd name="adj" fmla="val 11111"/>
            </a:avLst>
          </a:prstGeom>
          <a:solidFill>
            <a:schemeClr val="bg1"/>
          </a:solidFill>
          <a:ln w="15875">
            <a:solidFill>
              <a:srgbClr val="0F766E"/>
            </a:solidFill>
            <a:prstDash val="solid"/>
          </a:ln>
        </p:spPr>
      </p:sp>
      <p:sp>
        <p:nvSpPr>
          <p:cNvPr id="17" name="box-text-166"/>
          <p:cNvSpPr txBox="1"/>
          <p:nvPr/>
        </p:nvSpPr>
        <p:spPr>
          <a:xfrm>
            <a:off x="6931152" y="2148840"/>
            <a:ext cx="4608576" cy="822960"/>
          </a:xfrm>
          <a:prstGeom prst="rect">
            <a:avLst/>
          </a:prstGeom>
          <a:noFill/>
          <a:ln/>
        </p:spPr>
        <p:txBody>
          <a:bodyPr wrap="square" lIns="0" tIns="0" rIns="0" bIns="0" rtlCol="0" anchor="ctr"/>
          <a:lstStyle/>
          <a:p>
            <a:pPr algn="ctr" indent="0" marL="0">
              <a:buNone/>
            </a:pPr>
            <a:r>
              <a:rPr lang="en-US" sz="1400" b="1" dirty="0">
                <a:solidFill>
                  <a:schemeClr val="tx2"/>
                </a:solidFill>
              </a:rPr>
              <a:t>postgres:18</a:t>
            </a:r>
            <a:endParaRPr lang="en-US" sz="1400" dirty="0"/>
          </a:p>
          <a:p>
            <a:pPr algn="ctr" indent="0" marL="0">
              <a:buNone/>
            </a:pPr>
            <a:r>
              <a:rPr lang="en-US" sz="1100" dirty="0">
                <a:solidFill>
                  <a:schemeClr val="accent4"/>
                </a:solidFill>
              </a:rPr>
              <a:t>health: pg_isready</a:t>
            </a:r>
            <a:endParaRPr lang="en-US" sz="1400" dirty="0"/>
          </a:p>
        </p:txBody>
      </p:sp>
      <p:sp>
        <p:nvSpPr>
          <p:cNvPr id="18" name="box-167"/>
          <p:cNvSpPr/>
          <p:nvPr/>
        </p:nvSpPr>
        <p:spPr>
          <a:xfrm>
            <a:off x="6858000" y="3383280"/>
            <a:ext cx="4754880" cy="822960"/>
          </a:xfrm>
          <a:prstGeom prst="roundRect">
            <a:avLst>
              <a:gd name="adj" fmla="val 11111"/>
            </a:avLst>
          </a:prstGeom>
          <a:solidFill>
            <a:schemeClr val="bg1"/>
          </a:solidFill>
          <a:ln w="15875">
            <a:solidFill>
              <a:srgbClr val="0F766E"/>
            </a:solidFill>
            <a:prstDash val="solid"/>
          </a:ln>
        </p:spPr>
      </p:sp>
      <p:sp>
        <p:nvSpPr>
          <p:cNvPr id="19" name="box-text-168"/>
          <p:cNvSpPr txBox="1"/>
          <p:nvPr/>
        </p:nvSpPr>
        <p:spPr>
          <a:xfrm>
            <a:off x="6931152" y="3383280"/>
            <a:ext cx="4608576" cy="822960"/>
          </a:xfrm>
          <a:prstGeom prst="rect">
            <a:avLst/>
          </a:prstGeom>
          <a:noFill/>
          <a:ln/>
        </p:spPr>
        <p:txBody>
          <a:bodyPr wrap="square" lIns="0" tIns="0" rIns="0" bIns="0" rtlCol="0" anchor="ctr"/>
          <a:lstStyle/>
          <a:p>
            <a:pPr algn="ctr" indent="0" marL="0">
              <a:buNone/>
            </a:pPr>
            <a:r>
              <a:rPr lang="en-US" sz="1400" b="1" dirty="0">
                <a:solidFill>
                  <a:schemeClr val="tx2"/>
                </a:solidFill>
              </a:rPr>
              <a:t>backend</a:t>
            </a:r>
            <a:endParaRPr lang="en-US" sz="1400" dirty="0"/>
          </a:p>
          <a:p>
            <a:pPr algn="ctr" indent="0" marL="0">
              <a:buNone/>
            </a:pPr>
            <a:r>
              <a:rPr lang="en-US" sz="1100" dirty="0">
                <a:solidFill>
                  <a:schemeClr val="accent4"/>
                </a:solidFill>
              </a:rPr>
              <a:t>starts when postgres is healthy · health: /ready</a:t>
            </a:r>
            <a:endParaRPr lang="en-US" sz="1400" dirty="0"/>
          </a:p>
        </p:txBody>
      </p:sp>
      <p:sp>
        <p:nvSpPr>
          <p:cNvPr id="20" name="box-169"/>
          <p:cNvSpPr/>
          <p:nvPr/>
        </p:nvSpPr>
        <p:spPr>
          <a:xfrm>
            <a:off x="6858000" y="4617720"/>
            <a:ext cx="4754880" cy="822960"/>
          </a:xfrm>
          <a:prstGeom prst="roundRect">
            <a:avLst>
              <a:gd name="adj" fmla="val 11111"/>
            </a:avLst>
          </a:prstGeom>
          <a:solidFill>
            <a:schemeClr val="bg1"/>
          </a:solidFill>
          <a:ln w="15875">
            <a:solidFill>
              <a:srgbClr val="0F766E"/>
            </a:solidFill>
            <a:prstDash val="solid"/>
          </a:ln>
        </p:spPr>
      </p:sp>
      <p:sp>
        <p:nvSpPr>
          <p:cNvPr id="21" name="box-text-170"/>
          <p:cNvSpPr txBox="1"/>
          <p:nvPr/>
        </p:nvSpPr>
        <p:spPr>
          <a:xfrm>
            <a:off x="6931152" y="4617720"/>
            <a:ext cx="4608576" cy="822960"/>
          </a:xfrm>
          <a:prstGeom prst="rect">
            <a:avLst/>
          </a:prstGeom>
          <a:noFill/>
          <a:ln/>
        </p:spPr>
        <p:txBody>
          <a:bodyPr wrap="square" lIns="0" tIns="0" rIns="0" bIns="0" rtlCol="0" anchor="ctr"/>
          <a:lstStyle/>
          <a:p>
            <a:pPr algn="ctr" indent="0" marL="0">
              <a:buNone/>
            </a:pPr>
            <a:r>
              <a:rPr lang="en-US" sz="1400" b="1" dirty="0">
                <a:solidFill>
                  <a:schemeClr val="tx2"/>
                </a:solidFill>
              </a:rPr>
              <a:t>frontend</a:t>
            </a:r>
            <a:endParaRPr lang="en-US" sz="1400" dirty="0"/>
          </a:p>
          <a:p>
            <a:pPr algn="ctr" indent="0" marL="0">
              <a:buNone/>
            </a:pPr>
            <a:r>
              <a:rPr lang="en-US" sz="1100" dirty="0">
                <a:solidFill>
                  <a:schemeClr val="accent4"/>
                </a:solidFill>
              </a:rPr>
              <a:t>starts when the backend is healthy · :3000</a:t>
            </a:r>
            <a:endParaRPr lang="en-US" sz="1400" dirty="0"/>
          </a:p>
        </p:txBody>
      </p:sp>
      <p:sp>
        <p:nvSpPr>
          <p:cNvPr id="22" name="arrow-171"/>
          <p:cNvSpPr/>
          <p:nvPr/>
        </p:nvSpPr>
        <p:spPr>
          <a:xfrm>
            <a:off x="9235440" y="2971800"/>
            <a:ext cx="914" cy="411480"/>
          </a:xfrm>
          <a:prstGeom prst="line">
            <a:avLst/>
          </a:prstGeom>
          <a:noFill/>
          <a:ln w="19050">
            <a:solidFill>
              <a:srgbClr val="5B6B7A"/>
            </a:solidFill>
            <a:prstDash val="solid"/>
            <a:tailEnd type="triangle"/>
          </a:ln>
        </p:spPr>
      </p:sp>
      <p:sp>
        <p:nvSpPr>
          <p:cNvPr id="23" name="arrow-172"/>
          <p:cNvSpPr/>
          <p:nvPr/>
        </p:nvSpPr>
        <p:spPr>
          <a:xfrm>
            <a:off x="9235440" y="4206240"/>
            <a:ext cx="914" cy="411480"/>
          </a:xfrm>
          <a:prstGeom prst="line">
            <a:avLst/>
          </a:prstGeom>
          <a:noFill/>
          <a:ln w="19050">
            <a:solidFill>
              <a:srgbClr val="5B6B7A"/>
            </a:solidFill>
            <a:prstDash val="solid"/>
            <a:tailEnd type="triangle"/>
          </a:ln>
        </p:spPr>
      </p:sp>
      <p:sp>
        <p:nvSpPr>
          <p:cNvPr id="24" name="healthy-173"/>
          <p:cNvSpPr txBox="1"/>
          <p:nvPr/>
        </p:nvSpPr>
        <p:spPr>
          <a:xfrm>
            <a:off x="6858000" y="5577840"/>
            <a:ext cx="4754880" cy="365760"/>
          </a:xfrm>
          <a:prstGeom prst="rect">
            <a:avLst/>
          </a:prstGeom>
          <a:noFill/>
          <a:ln/>
        </p:spPr>
        <p:txBody>
          <a:bodyPr wrap="square" lIns="0" tIns="0" rIns="0" bIns="0" rtlCol="0" anchor="t"/>
          <a:lstStyle/>
          <a:p>
            <a:pPr indent="0" marL="0">
              <a:buNone/>
            </a:pPr>
            <a:r>
              <a:rPr lang="en-US" sz="1600" b="1" dirty="0">
                <a:solidFill>
                  <a:schemeClr val="accent6"/>
                </a:solidFill>
              </a:rPr>
              <a:t>3 / 3 services healthy</a:t>
            </a:r>
            <a:endParaRPr lang="en-US" sz="16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CI/CD: nine jobs on every push</a:t>
            </a:r>
            <a:endParaRPr lang="en-US" sz="3600" dirty="0"/>
          </a:p>
        </p:txBody>
      </p:sp>
      <p:graphicFrame>
        <p:nvGraphicFramePr>
          <p:cNvPr id="3" name="pipeline-durations" descr=""/>
          <p:cNvGraphicFramePr/>
          <p:nvPr/>
        </p:nvGraphicFramePr>
        <p:xfrm>
          <a:off x="548640" y="132588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stat-174"/>
          <p:cNvSpPr txBox="1"/>
          <p:nvPr/>
        </p:nvSpPr>
        <p:spPr>
          <a:xfrm>
            <a:off x="7863840" y="1280160"/>
            <a:ext cx="37490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4 / 4</a:t>
            </a:r>
            <a:endParaRPr lang="en-US" sz="4800" dirty="0"/>
          </a:p>
        </p:txBody>
      </p:sp>
      <p:sp>
        <p:nvSpPr>
          <p:cNvPr id="5" name="stat-label-175"/>
          <p:cNvSpPr txBox="1"/>
          <p:nvPr/>
        </p:nvSpPr>
        <p:spPr>
          <a:xfrm>
            <a:off x="7863840" y="2103120"/>
            <a:ext cx="3749040" cy="548640"/>
          </a:xfrm>
          <a:prstGeom prst="rect">
            <a:avLst/>
          </a:prstGeom>
          <a:noFill/>
          <a:ln/>
        </p:spPr>
        <p:txBody>
          <a:bodyPr wrap="square" lIns="0" tIns="0" rIns="0" bIns="0" rtlCol="0" anchor="t"/>
          <a:lstStyle/>
          <a:p>
            <a:pPr indent="0" marL="0">
              <a:buNone/>
            </a:pPr>
            <a:r>
              <a:rPr lang="en-US" sz="1400" dirty="0">
                <a:solidFill>
                  <a:schemeClr val="accent4"/>
                </a:solidFill>
              </a:rPr>
              <a:t>pipeline runs green</a:t>
            </a:r>
            <a:endParaRPr lang="en-US" sz="1400" dirty="0"/>
          </a:p>
        </p:txBody>
      </p:sp>
      <p:sp>
        <p:nvSpPr>
          <p:cNvPr id="6" name="stat-176"/>
          <p:cNvSpPr txBox="1"/>
          <p:nvPr/>
        </p:nvSpPr>
        <p:spPr>
          <a:xfrm>
            <a:off x="7863840" y="2743200"/>
            <a:ext cx="37490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SHA</a:t>
            </a:r>
            <a:endParaRPr lang="en-US" sz="4800" dirty="0"/>
          </a:p>
        </p:txBody>
      </p:sp>
      <p:sp>
        <p:nvSpPr>
          <p:cNvPr id="7" name="stat-label-177"/>
          <p:cNvSpPr txBox="1"/>
          <p:nvPr/>
        </p:nvSpPr>
        <p:spPr>
          <a:xfrm>
            <a:off x="7863840" y="3566160"/>
            <a:ext cx="3749040" cy="548640"/>
          </a:xfrm>
          <a:prstGeom prst="rect">
            <a:avLst/>
          </a:prstGeom>
          <a:noFill/>
          <a:ln/>
        </p:spPr>
        <p:txBody>
          <a:bodyPr wrap="square" lIns="0" tIns="0" rIns="0" bIns="0" rtlCol="0" anchor="t"/>
          <a:lstStyle/>
          <a:p>
            <a:pPr indent="0" marL="0">
              <a:buNone/>
            </a:pPr>
            <a:r>
              <a:rPr lang="en-US" sz="1400" dirty="0">
                <a:solidFill>
                  <a:schemeClr val="accent4"/>
                </a:solidFill>
              </a:rPr>
              <a:t>every image is tagged with its full commit SHA, never 'latest'</a:t>
            </a:r>
            <a:endParaRPr lang="en-US" sz="1400" dirty="0"/>
          </a:p>
        </p:txBody>
      </p:sp>
      <p:sp>
        <p:nvSpPr>
          <p:cNvPr id="8" name="stat-178"/>
          <p:cNvSpPr txBox="1"/>
          <p:nvPr/>
        </p:nvSpPr>
        <p:spPr>
          <a:xfrm>
            <a:off x="7863840" y="4206240"/>
            <a:ext cx="3749040" cy="777240"/>
          </a:xfrm>
          <a:prstGeom prst="rect">
            <a:avLst/>
          </a:prstGeom>
          <a:noFill/>
          <a:ln/>
        </p:spPr>
        <p:txBody>
          <a:bodyPr wrap="square" lIns="0" tIns="0" rIns="0" bIns="0" rtlCol="0" anchor="b"/>
          <a:lstStyle/>
          <a:p>
            <a:pPr indent="0" marL="0">
              <a:buNone/>
            </a:pPr>
            <a:r>
              <a:rPr lang="en-US" sz="4800" b="1" dirty="0">
                <a:solidFill>
                  <a:schemeClr val="accent1"/>
                </a:solidFill>
                <a:latin typeface="Arial" pitchFamily="34" charset="0"/>
                <a:ea typeface="Arial" pitchFamily="34" charset="-122"/>
                <a:cs typeface="Arial" pitchFamily="34" charset="-120"/>
              </a:rPr>
              <a:t>0</a:t>
            </a:r>
            <a:endParaRPr lang="en-US" sz="4800" dirty="0"/>
          </a:p>
        </p:txBody>
      </p:sp>
      <p:sp>
        <p:nvSpPr>
          <p:cNvPr id="9" name="stat-label-179"/>
          <p:cNvSpPr txBox="1"/>
          <p:nvPr/>
        </p:nvSpPr>
        <p:spPr>
          <a:xfrm>
            <a:off x="7863840" y="5029200"/>
            <a:ext cx="3749040" cy="548640"/>
          </a:xfrm>
          <a:prstGeom prst="rect">
            <a:avLst/>
          </a:prstGeom>
          <a:noFill/>
          <a:ln/>
        </p:spPr>
        <p:txBody>
          <a:bodyPr wrap="square" lIns="0" tIns="0" rIns="0" bIns="0" rtlCol="0" anchor="t"/>
          <a:lstStyle/>
          <a:p>
            <a:pPr indent="0" marL="0">
              <a:buNone/>
            </a:pPr>
            <a:r>
              <a:rPr lang="en-US" sz="1400" dirty="0">
                <a:solidFill>
                  <a:schemeClr val="accent4"/>
                </a:solidFill>
              </a:rPr>
              <a:t>rebuilds after scanning: the exact scanned image is pushed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DevSecOps: a gate that really blocks</a:t>
            </a:r>
            <a:endParaRPr lang="en-US" sz="3600" dirty="0"/>
          </a:p>
        </p:txBody>
      </p:sp>
      <p:sp>
        <p:nvSpPr>
          <p:cNvPr id="3" name="badge-180"/>
          <p:cNvSpPr/>
          <p:nvPr/>
        </p:nvSpPr>
        <p:spPr>
          <a:xfrm>
            <a:off x="548640" y="1417320"/>
            <a:ext cx="640080" cy="640080"/>
          </a:xfrm>
          <a:prstGeom prst="ellipse">
            <a:avLst/>
          </a:prstGeom>
          <a:solidFill>
            <a:schemeClr val="accent5"/>
          </a:solidFill>
          <a:ln/>
        </p:spPr>
      </p:sp>
      <p:pic>
        <p:nvPicPr>
          <p:cNvPr id="4" name="badge-icon-181" descr="preencoded.png">    </p:cNvPr>
          <p:cNvPicPr>
            <a:picLocks noChangeAspect="1"/>
          </p:cNvPicPr>
          <p:nvPr/>
        </p:nvPicPr>
        <p:blipFill>
          <a:blip r:embed="rId1"/>
          <a:stretch>
            <a:fillRect/>
          </a:stretch>
        </p:blipFill>
        <p:spPr>
          <a:xfrm>
            <a:off x="689458" y="1558138"/>
            <a:ext cx="358445" cy="358445"/>
          </a:xfrm>
          <a:prstGeom prst="rect">
            <a:avLst/>
          </a:prstGeom>
        </p:spPr>
      </p:pic>
      <p:sp>
        <p:nvSpPr>
          <p:cNvPr id="5" name="story-title-182"/>
          <p:cNvSpPr txBox="1"/>
          <p:nvPr/>
        </p:nvSpPr>
        <p:spPr>
          <a:xfrm>
            <a:off x="1463040" y="1399032"/>
            <a:ext cx="5120640" cy="365760"/>
          </a:xfrm>
          <a:prstGeom prst="rect">
            <a:avLst/>
          </a:prstGeom>
          <a:noFill/>
          <a:ln/>
        </p:spPr>
        <p:txBody>
          <a:bodyPr wrap="square" lIns="0" tIns="0" rIns="0" bIns="0" rtlCol="0" anchor="t"/>
          <a:lstStyle/>
          <a:p>
            <a:pPr indent="0" marL="0">
              <a:buNone/>
            </a:pPr>
            <a:r>
              <a:rPr lang="en-US" sz="1800" b="1" dirty="0">
                <a:solidFill>
                  <a:schemeClr val="tx2"/>
                </a:solidFill>
              </a:rPr>
              <a:t>Scan fails</a:t>
            </a:r>
            <a:endParaRPr lang="en-US" sz="1800" dirty="0"/>
          </a:p>
        </p:txBody>
      </p:sp>
      <p:sp>
        <p:nvSpPr>
          <p:cNvPr id="6" name="story-text-183"/>
          <p:cNvSpPr txBox="1"/>
          <p:nvPr/>
        </p:nvSpPr>
        <p:spPr>
          <a:xfrm>
            <a:off x="1463040" y="1801368"/>
            <a:ext cx="5120640" cy="868680"/>
          </a:xfrm>
          <a:prstGeom prst="rect">
            <a:avLst/>
          </a:prstGeom>
          <a:noFill/>
          <a:ln/>
        </p:spPr>
        <p:txBody>
          <a:bodyPr wrap="square" lIns="0" tIns="0" rIns="0" bIns="0" rtlCol="0" anchor="t"/>
          <a:lstStyle/>
          <a:p>
            <a:pPr indent="0" marL="0">
              <a:buNone/>
            </a:pPr>
            <a:r>
              <a:rPr lang="en-US" sz="1400" dirty="0">
                <a:solidFill>
                  <a:schemeClr val="tx1"/>
                </a:solidFill>
              </a:rPr>
              <a:t>Trivy finds CVE‑2026‑4775 (HIGH) in libtiff inside the nginx base image. A fix exists, so the gate exits 1 and nothing is pushed.</a:t>
            </a:r>
            <a:endParaRPr lang="en-US" sz="1400" dirty="0"/>
          </a:p>
        </p:txBody>
      </p:sp>
      <p:sp>
        <p:nvSpPr>
          <p:cNvPr id="7" name="arrow-184"/>
          <p:cNvSpPr/>
          <p:nvPr/>
        </p:nvSpPr>
        <p:spPr>
          <a:xfrm>
            <a:off x="868680" y="2130552"/>
            <a:ext cx="914" cy="749808"/>
          </a:xfrm>
          <a:prstGeom prst="line">
            <a:avLst/>
          </a:prstGeom>
          <a:noFill/>
          <a:ln w="19050">
            <a:solidFill>
              <a:srgbClr val="5B6B7A"/>
            </a:solidFill>
            <a:prstDash val="solid"/>
            <a:tailEnd type="triangle"/>
          </a:ln>
        </p:spPr>
      </p:sp>
      <p:sp>
        <p:nvSpPr>
          <p:cNvPr id="8" name="badge-185"/>
          <p:cNvSpPr/>
          <p:nvPr/>
        </p:nvSpPr>
        <p:spPr>
          <a:xfrm>
            <a:off x="548640" y="2926080"/>
            <a:ext cx="640080" cy="640080"/>
          </a:xfrm>
          <a:prstGeom prst="ellipse">
            <a:avLst/>
          </a:prstGeom>
          <a:solidFill>
            <a:schemeClr val="accent3"/>
          </a:solidFill>
          <a:ln/>
        </p:spPr>
      </p:sp>
      <p:pic>
        <p:nvPicPr>
          <p:cNvPr id="9" name="badge-icon-186" descr="preencoded.png">    </p:cNvPr>
          <p:cNvPicPr>
            <a:picLocks noChangeAspect="1"/>
          </p:cNvPicPr>
          <p:nvPr/>
        </p:nvPicPr>
        <p:blipFill>
          <a:blip r:embed="rId2"/>
          <a:stretch>
            <a:fillRect/>
          </a:stretch>
        </p:blipFill>
        <p:spPr>
          <a:xfrm>
            <a:off x="689458" y="3066898"/>
            <a:ext cx="358445" cy="358445"/>
          </a:xfrm>
          <a:prstGeom prst="rect">
            <a:avLst/>
          </a:prstGeom>
        </p:spPr>
      </p:pic>
      <p:sp>
        <p:nvSpPr>
          <p:cNvPr id="10" name="story-title-187"/>
          <p:cNvSpPr txBox="1"/>
          <p:nvPr/>
        </p:nvSpPr>
        <p:spPr>
          <a:xfrm>
            <a:off x="1463040" y="2907792"/>
            <a:ext cx="5120640" cy="365760"/>
          </a:xfrm>
          <a:prstGeom prst="rect">
            <a:avLst/>
          </a:prstGeom>
          <a:noFill/>
          <a:ln/>
        </p:spPr>
        <p:txBody>
          <a:bodyPr wrap="square" lIns="0" tIns="0" rIns="0" bIns="0" rtlCol="0" anchor="t"/>
          <a:lstStyle/>
          <a:p>
            <a:pPr indent="0" marL="0">
              <a:buNone/>
            </a:pPr>
            <a:r>
              <a:rPr lang="en-US" sz="1800" b="1" dirty="0">
                <a:solidFill>
                  <a:schemeClr val="tx2"/>
                </a:solidFill>
              </a:rPr>
              <a:t>Fix</a:t>
            </a:r>
            <a:endParaRPr lang="en-US" sz="1800" dirty="0"/>
          </a:p>
        </p:txBody>
      </p:sp>
      <p:sp>
        <p:nvSpPr>
          <p:cNvPr id="11" name="story-text-188"/>
          <p:cNvSpPr txBox="1"/>
          <p:nvPr/>
        </p:nvSpPr>
        <p:spPr>
          <a:xfrm>
            <a:off x="1463040" y="3310128"/>
            <a:ext cx="5120640" cy="868680"/>
          </a:xfrm>
          <a:prstGeom prst="rect">
            <a:avLst/>
          </a:prstGeom>
          <a:noFill/>
          <a:ln/>
        </p:spPr>
        <p:txBody>
          <a:bodyPr wrap="square" lIns="0" tIns="0" rIns="0" bIns="0" rtlCol="0" anchor="t"/>
          <a:lstStyle/>
          <a:p>
            <a:pPr indent="0" marL="0">
              <a:buNone/>
            </a:pPr>
            <a:r>
              <a:rPr lang="en-US" sz="1400" dirty="0">
                <a:solidFill>
                  <a:schemeClr val="tx1"/>
                </a:solidFill>
              </a:rPr>
              <a:t>The runtime stage runs apk upgrade, pulling the patched libtiff 4.7.2‑r0.</a:t>
            </a:r>
            <a:endParaRPr lang="en-US" sz="1400" dirty="0"/>
          </a:p>
        </p:txBody>
      </p:sp>
      <p:sp>
        <p:nvSpPr>
          <p:cNvPr id="12" name="arrow-189"/>
          <p:cNvSpPr/>
          <p:nvPr/>
        </p:nvSpPr>
        <p:spPr>
          <a:xfrm>
            <a:off x="868680" y="3639312"/>
            <a:ext cx="914" cy="749808"/>
          </a:xfrm>
          <a:prstGeom prst="line">
            <a:avLst/>
          </a:prstGeom>
          <a:noFill/>
          <a:ln w="19050">
            <a:solidFill>
              <a:srgbClr val="5B6B7A"/>
            </a:solidFill>
            <a:prstDash val="solid"/>
            <a:tailEnd type="triangle"/>
          </a:ln>
        </p:spPr>
      </p:sp>
      <p:sp>
        <p:nvSpPr>
          <p:cNvPr id="13" name="badge-190"/>
          <p:cNvSpPr/>
          <p:nvPr/>
        </p:nvSpPr>
        <p:spPr>
          <a:xfrm>
            <a:off x="548640" y="4434840"/>
            <a:ext cx="640080" cy="640080"/>
          </a:xfrm>
          <a:prstGeom prst="ellipse">
            <a:avLst/>
          </a:prstGeom>
          <a:solidFill>
            <a:schemeClr val="accent6"/>
          </a:solidFill>
          <a:ln/>
        </p:spPr>
      </p:sp>
      <p:pic>
        <p:nvPicPr>
          <p:cNvPr id="14" name="badge-icon-191" descr="preencoded.png">    </p:cNvPr>
          <p:cNvPicPr>
            <a:picLocks noChangeAspect="1"/>
          </p:cNvPicPr>
          <p:nvPr/>
        </p:nvPicPr>
        <p:blipFill>
          <a:blip r:embed="rId3"/>
          <a:stretch>
            <a:fillRect/>
          </a:stretch>
        </p:blipFill>
        <p:spPr>
          <a:xfrm>
            <a:off x="689458" y="4575658"/>
            <a:ext cx="358445" cy="358445"/>
          </a:xfrm>
          <a:prstGeom prst="rect">
            <a:avLst/>
          </a:prstGeom>
        </p:spPr>
      </p:pic>
      <p:sp>
        <p:nvSpPr>
          <p:cNvPr id="15" name="story-title-192"/>
          <p:cNvSpPr txBox="1"/>
          <p:nvPr/>
        </p:nvSpPr>
        <p:spPr>
          <a:xfrm>
            <a:off x="1463040" y="4416552"/>
            <a:ext cx="5120640" cy="365760"/>
          </a:xfrm>
          <a:prstGeom prst="rect">
            <a:avLst/>
          </a:prstGeom>
          <a:noFill/>
          <a:ln/>
        </p:spPr>
        <p:txBody>
          <a:bodyPr wrap="square" lIns="0" tIns="0" rIns="0" bIns="0" rtlCol="0" anchor="t"/>
          <a:lstStyle/>
          <a:p>
            <a:pPr indent="0" marL="0">
              <a:buNone/>
            </a:pPr>
            <a:r>
              <a:rPr lang="en-US" sz="1800" b="1" dirty="0">
                <a:solidFill>
                  <a:schemeClr val="tx2"/>
                </a:solidFill>
              </a:rPr>
              <a:t>Pass</a:t>
            </a:r>
            <a:endParaRPr lang="en-US" sz="1800" dirty="0"/>
          </a:p>
        </p:txBody>
      </p:sp>
      <p:sp>
        <p:nvSpPr>
          <p:cNvPr id="16" name="story-text-193"/>
          <p:cNvSpPr txBox="1"/>
          <p:nvPr/>
        </p:nvSpPr>
        <p:spPr>
          <a:xfrm>
            <a:off x="1463040" y="4818888"/>
            <a:ext cx="5120640" cy="868680"/>
          </a:xfrm>
          <a:prstGeom prst="rect">
            <a:avLst/>
          </a:prstGeom>
          <a:noFill/>
          <a:ln/>
        </p:spPr>
        <p:txBody>
          <a:bodyPr wrap="square" lIns="0" tIns="0" rIns="0" bIns="0" rtlCol="0" anchor="t"/>
          <a:lstStyle/>
          <a:p>
            <a:pPr indent="0" marL="0">
              <a:buNone/>
            </a:pPr>
            <a:r>
              <a:rPr lang="en-US" sz="1400" dirty="0">
                <a:solidFill>
                  <a:schemeClr val="tx1"/>
                </a:solidFill>
              </a:rPr>
              <a:t>0 fixable HIGH or CRITICAL vulnerabilities in either image - the gate passes and the images are pushed.</a:t>
            </a:r>
            <a:endParaRPr lang="en-US" sz="1400" dirty="0"/>
          </a:p>
        </p:txBody>
      </p:sp>
      <p:sp>
        <p:nvSpPr>
          <p:cNvPr id="17" name="card-194"/>
          <p:cNvSpPr/>
          <p:nvPr/>
        </p:nvSpPr>
        <p:spPr>
          <a:xfrm>
            <a:off x="7086600" y="1417320"/>
            <a:ext cx="2148840" cy="1371600"/>
          </a:xfrm>
          <a:prstGeom prst="roundRect">
            <a:avLst>
              <a:gd name="adj" fmla="val 8000"/>
            </a:avLst>
          </a:prstGeom>
          <a:solidFill>
            <a:schemeClr val="bg2"/>
          </a:solidFill>
          <a:ln/>
        </p:spPr>
      </p:sp>
      <p:sp>
        <p:nvSpPr>
          <p:cNvPr id="18" name="badge-195"/>
          <p:cNvSpPr/>
          <p:nvPr/>
        </p:nvSpPr>
        <p:spPr>
          <a:xfrm>
            <a:off x="7315200" y="1645920"/>
            <a:ext cx="502920" cy="502920"/>
          </a:xfrm>
          <a:prstGeom prst="ellipse">
            <a:avLst/>
          </a:prstGeom>
          <a:solidFill>
            <a:schemeClr val="accent1"/>
          </a:solidFill>
          <a:ln/>
        </p:spPr>
      </p:sp>
      <p:pic>
        <p:nvPicPr>
          <p:cNvPr id="19" name="badge-icon-196" descr="preencoded.png">    </p:cNvPr>
          <p:cNvPicPr>
            <a:picLocks noChangeAspect="1"/>
          </p:cNvPicPr>
          <p:nvPr/>
        </p:nvPicPr>
        <p:blipFill>
          <a:blip r:embed="rId4"/>
          <a:stretch>
            <a:fillRect/>
          </a:stretch>
        </p:blipFill>
        <p:spPr>
          <a:xfrm>
            <a:off x="7425842" y="1756562"/>
            <a:ext cx="281635" cy="281635"/>
          </a:xfrm>
          <a:prstGeom prst="rect">
            <a:avLst/>
          </a:prstGeom>
        </p:spPr>
      </p:pic>
      <p:sp>
        <p:nvSpPr>
          <p:cNvPr id="20" name="ctrl-name-197"/>
          <p:cNvSpPr txBox="1"/>
          <p:nvPr/>
        </p:nvSpPr>
        <p:spPr>
          <a:xfrm>
            <a:off x="7315200" y="2221992"/>
            <a:ext cx="1828800" cy="292608"/>
          </a:xfrm>
          <a:prstGeom prst="rect">
            <a:avLst/>
          </a:prstGeom>
          <a:noFill/>
          <a:ln/>
        </p:spPr>
        <p:txBody>
          <a:bodyPr wrap="square" lIns="0" tIns="0" rIns="0" bIns="0" rtlCol="0" anchor="t"/>
          <a:lstStyle/>
          <a:p>
            <a:pPr indent="0" marL="0">
              <a:buNone/>
            </a:pPr>
            <a:r>
              <a:rPr lang="en-US" sz="1500" b="1" dirty="0">
                <a:solidFill>
                  <a:schemeClr val="tx2"/>
                </a:solidFill>
              </a:rPr>
              <a:t>Trivy</a:t>
            </a:r>
            <a:endParaRPr lang="en-US" sz="1500" dirty="0"/>
          </a:p>
        </p:txBody>
      </p:sp>
      <p:sp>
        <p:nvSpPr>
          <p:cNvPr id="21" name="ctrl-role-198"/>
          <p:cNvSpPr txBox="1"/>
          <p:nvPr/>
        </p:nvSpPr>
        <p:spPr>
          <a:xfrm>
            <a:off x="7315200" y="2478024"/>
            <a:ext cx="1828800" cy="274320"/>
          </a:xfrm>
          <a:prstGeom prst="rect">
            <a:avLst/>
          </a:prstGeom>
          <a:noFill/>
          <a:ln/>
        </p:spPr>
        <p:txBody>
          <a:bodyPr wrap="square" lIns="0" tIns="0" rIns="0" bIns="0" rtlCol="0" anchor="t"/>
          <a:lstStyle/>
          <a:p>
            <a:pPr indent="0" marL="0">
              <a:buNone/>
            </a:pPr>
            <a:r>
              <a:rPr lang="en-US" sz="1200" dirty="0">
                <a:solidFill>
                  <a:schemeClr val="accent4"/>
                </a:solidFill>
              </a:rPr>
              <a:t>container images</a:t>
            </a:r>
            <a:endParaRPr lang="en-US" sz="1200" dirty="0"/>
          </a:p>
        </p:txBody>
      </p:sp>
      <p:sp>
        <p:nvSpPr>
          <p:cNvPr id="22" name="card-199"/>
          <p:cNvSpPr/>
          <p:nvPr/>
        </p:nvSpPr>
        <p:spPr>
          <a:xfrm>
            <a:off x="9418320" y="1417320"/>
            <a:ext cx="2148840" cy="1371600"/>
          </a:xfrm>
          <a:prstGeom prst="roundRect">
            <a:avLst>
              <a:gd name="adj" fmla="val 8000"/>
            </a:avLst>
          </a:prstGeom>
          <a:solidFill>
            <a:schemeClr val="bg2"/>
          </a:solidFill>
          <a:ln/>
        </p:spPr>
      </p:sp>
      <p:sp>
        <p:nvSpPr>
          <p:cNvPr id="23" name="badge-200"/>
          <p:cNvSpPr/>
          <p:nvPr/>
        </p:nvSpPr>
        <p:spPr>
          <a:xfrm>
            <a:off x="9646920" y="1645920"/>
            <a:ext cx="502920" cy="502920"/>
          </a:xfrm>
          <a:prstGeom prst="ellipse">
            <a:avLst/>
          </a:prstGeom>
          <a:solidFill>
            <a:schemeClr val="accent1"/>
          </a:solidFill>
          <a:ln/>
        </p:spPr>
      </p:sp>
      <p:pic>
        <p:nvPicPr>
          <p:cNvPr id="24" name="badge-icon-201" descr="preencoded.png">    </p:cNvPr>
          <p:cNvPicPr>
            <a:picLocks noChangeAspect="1"/>
          </p:cNvPicPr>
          <p:nvPr/>
        </p:nvPicPr>
        <p:blipFill>
          <a:blip r:embed="rId5"/>
          <a:stretch>
            <a:fillRect/>
          </a:stretch>
        </p:blipFill>
        <p:spPr>
          <a:xfrm>
            <a:off x="9757562" y="1756562"/>
            <a:ext cx="281635" cy="281635"/>
          </a:xfrm>
          <a:prstGeom prst="rect">
            <a:avLst/>
          </a:prstGeom>
        </p:spPr>
      </p:pic>
      <p:sp>
        <p:nvSpPr>
          <p:cNvPr id="25" name="ctrl-name-202"/>
          <p:cNvSpPr txBox="1"/>
          <p:nvPr/>
        </p:nvSpPr>
        <p:spPr>
          <a:xfrm>
            <a:off x="9646920" y="2221992"/>
            <a:ext cx="1828800" cy="292608"/>
          </a:xfrm>
          <a:prstGeom prst="rect">
            <a:avLst/>
          </a:prstGeom>
          <a:noFill/>
          <a:ln/>
        </p:spPr>
        <p:txBody>
          <a:bodyPr wrap="square" lIns="0" tIns="0" rIns="0" bIns="0" rtlCol="0" anchor="t"/>
          <a:lstStyle/>
          <a:p>
            <a:pPr indent="0" marL="0">
              <a:buNone/>
            </a:pPr>
            <a:r>
              <a:rPr lang="en-US" sz="1500" b="1" dirty="0">
                <a:solidFill>
                  <a:schemeClr val="tx2"/>
                </a:solidFill>
              </a:rPr>
              <a:t>Gitleaks</a:t>
            </a:r>
            <a:endParaRPr lang="en-US" sz="1500" dirty="0"/>
          </a:p>
        </p:txBody>
      </p:sp>
      <p:sp>
        <p:nvSpPr>
          <p:cNvPr id="26" name="ctrl-role-203"/>
          <p:cNvSpPr txBox="1"/>
          <p:nvPr/>
        </p:nvSpPr>
        <p:spPr>
          <a:xfrm>
            <a:off x="9646920" y="2478024"/>
            <a:ext cx="1828800" cy="274320"/>
          </a:xfrm>
          <a:prstGeom prst="rect">
            <a:avLst/>
          </a:prstGeom>
          <a:noFill/>
          <a:ln/>
        </p:spPr>
        <p:txBody>
          <a:bodyPr wrap="square" lIns="0" tIns="0" rIns="0" bIns="0" rtlCol="0" anchor="t"/>
          <a:lstStyle/>
          <a:p>
            <a:pPr indent="0" marL="0">
              <a:buNone/>
            </a:pPr>
            <a:r>
              <a:rPr lang="en-US" sz="1200" dirty="0">
                <a:solidFill>
                  <a:schemeClr val="accent4"/>
                </a:solidFill>
              </a:rPr>
              <a:t>no secrets in Git</a:t>
            </a:r>
            <a:endParaRPr lang="en-US" sz="1200" dirty="0"/>
          </a:p>
        </p:txBody>
      </p:sp>
      <p:sp>
        <p:nvSpPr>
          <p:cNvPr id="27" name="card-204"/>
          <p:cNvSpPr/>
          <p:nvPr/>
        </p:nvSpPr>
        <p:spPr>
          <a:xfrm>
            <a:off x="7086600" y="3017520"/>
            <a:ext cx="2148840" cy="1371600"/>
          </a:xfrm>
          <a:prstGeom prst="roundRect">
            <a:avLst>
              <a:gd name="adj" fmla="val 8000"/>
            </a:avLst>
          </a:prstGeom>
          <a:solidFill>
            <a:schemeClr val="bg2"/>
          </a:solidFill>
          <a:ln/>
        </p:spPr>
      </p:sp>
      <p:sp>
        <p:nvSpPr>
          <p:cNvPr id="28" name="badge-205"/>
          <p:cNvSpPr/>
          <p:nvPr/>
        </p:nvSpPr>
        <p:spPr>
          <a:xfrm>
            <a:off x="7315200" y="3246120"/>
            <a:ext cx="502920" cy="502920"/>
          </a:xfrm>
          <a:prstGeom prst="ellipse">
            <a:avLst/>
          </a:prstGeom>
          <a:solidFill>
            <a:schemeClr val="accent1"/>
          </a:solidFill>
          <a:ln/>
        </p:spPr>
      </p:sp>
      <p:pic>
        <p:nvPicPr>
          <p:cNvPr id="29" name="badge-icon-206" descr="preencoded.png">    </p:cNvPr>
          <p:cNvPicPr>
            <a:picLocks noChangeAspect="1"/>
          </p:cNvPicPr>
          <p:nvPr/>
        </p:nvPicPr>
        <p:blipFill>
          <a:blip r:embed="rId6"/>
          <a:stretch>
            <a:fillRect/>
          </a:stretch>
        </p:blipFill>
        <p:spPr>
          <a:xfrm>
            <a:off x="7425842" y="3356762"/>
            <a:ext cx="281635" cy="281635"/>
          </a:xfrm>
          <a:prstGeom prst="rect">
            <a:avLst/>
          </a:prstGeom>
        </p:spPr>
      </p:pic>
      <p:sp>
        <p:nvSpPr>
          <p:cNvPr id="30" name="ctrl-name-207"/>
          <p:cNvSpPr txBox="1"/>
          <p:nvPr/>
        </p:nvSpPr>
        <p:spPr>
          <a:xfrm>
            <a:off x="7315200" y="3822192"/>
            <a:ext cx="1828800" cy="292608"/>
          </a:xfrm>
          <a:prstGeom prst="rect">
            <a:avLst/>
          </a:prstGeom>
          <a:noFill/>
          <a:ln/>
        </p:spPr>
        <p:txBody>
          <a:bodyPr wrap="square" lIns="0" tIns="0" rIns="0" bIns="0" rtlCol="0" anchor="t"/>
          <a:lstStyle/>
          <a:p>
            <a:pPr indent="0" marL="0">
              <a:buNone/>
            </a:pPr>
            <a:r>
              <a:rPr lang="en-US" sz="1500" b="1" dirty="0">
                <a:solidFill>
                  <a:schemeClr val="tx2"/>
                </a:solidFill>
              </a:rPr>
              <a:t>Bandit</a:t>
            </a:r>
            <a:endParaRPr lang="en-US" sz="1500" dirty="0"/>
          </a:p>
        </p:txBody>
      </p:sp>
      <p:sp>
        <p:nvSpPr>
          <p:cNvPr id="31" name="ctrl-role-208"/>
          <p:cNvSpPr txBox="1"/>
          <p:nvPr/>
        </p:nvSpPr>
        <p:spPr>
          <a:xfrm>
            <a:off x="7315200" y="4078224"/>
            <a:ext cx="1828800" cy="274320"/>
          </a:xfrm>
          <a:prstGeom prst="rect">
            <a:avLst/>
          </a:prstGeom>
          <a:noFill/>
          <a:ln/>
        </p:spPr>
        <p:txBody>
          <a:bodyPr wrap="square" lIns="0" tIns="0" rIns="0" bIns="0" rtlCol="0" anchor="t"/>
          <a:lstStyle/>
          <a:p>
            <a:pPr indent="0" marL="0">
              <a:buNone/>
            </a:pPr>
            <a:r>
              <a:rPr lang="en-US" sz="1200" dirty="0">
                <a:solidFill>
                  <a:schemeClr val="accent4"/>
                </a:solidFill>
              </a:rPr>
              <a:t>Python SAST</a:t>
            </a:r>
            <a:endParaRPr lang="en-US" sz="1200" dirty="0"/>
          </a:p>
        </p:txBody>
      </p:sp>
      <p:sp>
        <p:nvSpPr>
          <p:cNvPr id="32" name="card-209"/>
          <p:cNvSpPr/>
          <p:nvPr/>
        </p:nvSpPr>
        <p:spPr>
          <a:xfrm>
            <a:off x="9418320" y="3017520"/>
            <a:ext cx="2148840" cy="1371600"/>
          </a:xfrm>
          <a:prstGeom prst="roundRect">
            <a:avLst>
              <a:gd name="adj" fmla="val 8000"/>
            </a:avLst>
          </a:prstGeom>
          <a:solidFill>
            <a:schemeClr val="bg2"/>
          </a:solidFill>
          <a:ln/>
        </p:spPr>
      </p:sp>
      <p:sp>
        <p:nvSpPr>
          <p:cNvPr id="33" name="badge-210"/>
          <p:cNvSpPr/>
          <p:nvPr/>
        </p:nvSpPr>
        <p:spPr>
          <a:xfrm>
            <a:off x="9646920" y="3246120"/>
            <a:ext cx="502920" cy="502920"/>
          </a:xfrm>
          <a:prstGeom prst="ellipse">
            <a:avLst/>
          </a:prstGeom>
          <a:solidFill>
            <a:schemeClr val="accent1"/>
          </a:solidFill>
          <a:ln/>
        </p:spPr>
      </p:sp>
      <p:pic>
        <p:nvPicPr>
          <p:cNvPr id="34" name="badge-icon-211" descr="preencoded.png">    </p:cNvPr>
          <p:cNvPicPr>
            <a:picLocks noChangeAspect="1"/>
          </p:cNvPicPr>
          <p:nvPr/>
        </p:nvPicPr>
        <p:blipFill>
          <a:blip r:embed="rId7"/>
          <a:stretch>
            <a:fillRect/>
          </a:stretch>
        </p:blipFill>
        <p:spPr>
          <a:xfrm>
            <a:off x="9757562" y="3356762"/>
            <a:ext cx="281635" cy="281635"/>
          </a:xfrm>
          <a:prstGeom prst="rect">
            <a:avLst/>
          </a:prstGeom>
        </p:spPr>
      </p:pic>
      <p:sp>
        <p:nvSpPr>
          <p:cNvPr id="35" name="ctrl-name-212"/>
          <p:cNvSpPr txBox="1"/>
          <p:nvPr/>
        </p:nvSpPr>
        <p:spPr>
          <a:xfrm>
            <a:off x="9646920" y="3822192"/>
            <a:ext cx="1828800" cy="292608"/>
          </a:xfrm>
          <a:prstGeom prst="rect">
            <a:avLst/>
          </a:prstGeom>
          <a:noFill/>
          <a:ln/>
        </p:spPr>
        <p:txBody>
          <a:bodyPr wrap="square" lIns="0" tIns="0" rIns="0" bIns="0" rtlCol="0" anchor="t"/>
          <a:lstStyle/>
          <a:p>
            <a:pPr indent="0" marL="0">
              <a:buNone/>
            </a:pPr>
            <a:r>
              <a:rPr lang="en-US" sz="1500" b="1" dirty="0">
                <a:solidFill>
                  <a:schemeClr val="tx2"/>
                </a:solidFill>
              </a:rPr>
              <a:t>npm audit</a:t>
            </a:r>
            <a:endParaRPr lang="en-US" sz="1500" dirty="0"/>
          </a:p>
        </p:txBody>
      </p:sp>
      <p:sp>
        <p:nvSpPr>
          <p:cNvPr id="36" name="ctrl-role-213"/>
          <p:cNvSpPr txBox="1"/>
          <p:nvPr/>
        </p:nvSpPr>
        <p:spPr>
          <a:xfrm>
            <a:off x="9646920" y="4078224"/>
            <a:ext cx="1828800" cy="274320"/>
          </a:xfrm>
          <a:prstGeom prst="rect">
            <a:avLst/>
          </a:prstGeom>
          <a:noFill/>
          <a:ln/>
        </p:spPr>
        <p:txBody>
          <a:bodyPr wrap="square" lIns="0" tIns="0" rIns="0" bIns="0" rtlCol="0" anchor="t"/>
          <a:lstStyle/>
          <a:p>
            <a:pPr indent="0" marL="0">
              <a:buNone/>
            </a:pPr>
            <a:r>
              <a:rPr lang="en-US" sz="1200" dirty="0">
                <a:solidFill>
                  <a:schemeClr val="accent4"/>
                </a:solidFill>
              </a:rPr>
              <a:t>frontend dependencies</a:t>
            </a:r>
            <a:endParaRPr lang="en-US" sz="1200" dirty="0"/>
          </a:p>
        </p:txBody>
      </p:sp>
      <p:sp>
        <p:nvSpPr>
          <p:cNvPr id="37" name="runtime-214"/>
          <p:cNvSpPr txBox="1"/>
          <p:nvPr/>
        </p:nvSpPr>
        <p:spPr>
          <a:xfrm>
            <a:off x="7086600" y="4754880"/>
            <a:ext cx="4480560" cy="640080"/>
          </a:xfrm>
          <a:prstGeom prst="rect">
            <a:avLst/>
          </a:prstGeom>
          <a:noFill/>
          <a:ln/>
        </p:spPr>
        <p:txBody>
          <a:bodyPr wrap="square" lIns="0" tIns="0" rIns="0" bIns="0" rtlCol="0" anchor="t"/>
          <a:lstStyle/>
          <a:p>
            <a:pPr indent="0" marL="0">
              <a:buNone/>
            </a:pPr>
            <a:r>
              <a:rPr lang="en-US" sz="1400" i="1" dirty="0">
                <a:solidFill>
                  <a:schemeClr val="accent4"/>
                </a:solidFill>
              </a:rPr>
              <a:t>At runtime: non-root, read-only root filesystem, all Linux capabilities dropped</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Terraform: AWS VPC + EKS in Mumbai</a:t>
            </a:r>
            <a:endParaRPr lang="en-US" sz="3600" dirty="0"/>
          </a:p>
        </p:txBody>
      </p:sp>
      <p:sp>
        <p:nvSpPr>
          <p:cNvPr id="3" name="stat-215"/>
          <p:cNvSpPr txBox="1"/>
          <p:nvPr/>
        </p:nvSpPr>
        <p:spPr>
          <a:xfrm>
            <a:off x="548640" y="1234440"/>
            <a:ext cx="141732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22</a:t>
            </a:r>
            <a:endParaRPr lang="en-US" sz="4000" dirty="0"/>
          </a:p>
        </p:txBody>
      </p:sp>
      <p:sp>
        <p:nvSpPr>
          <p:cNvPr id="4" name="stat-label-216"/>
          <p:cNvSpPr txBox="1"/>
          <p:nvPr/>
        </p:nvSpPr>
        <p:spPr>
          <a:xfrm>
            <a:off x="548640" y="2057400"/>
            <a:ext cx="1417320" cy="548640"/>
          </a:xfrm>
          <a:prstGeom prst="rect">
            <a:avLst/>
          </a:prstGeom>
          <a:noFill/>
          <a:ln/>
        </p:spPr>
        <p:txBody>
          <a:bodyPr wrap="square" lIns="0" tIns="0" rIns="0" bIns="0" rtlCol="0" anchor="t"/>
          <a:lstStyle/>
          <a:p>
            <a:pPr indent="0" marL="0">
              <a:buNone/>
            </a:pPr>
            <a:r>
              <a:rPr lang="en-US" sz="1400" dirty="0">
                <a:solidFill>
                  <a:schemeClr val="accent4"/>
                </a:solidFill>
              </a:rPr>
              <a:t>resources, one plan</a:t>
            </a:r>
            <a:endParaRPr lang="en-US" sz="1400" dirty="0"/>
          </a:p>
        </p:txBody>
      </p:sp>
      <p:sp>
        <p:nvSpPr>
          <p:cNvPr id="5" name="stat-217"/>
          <p:cNvSpPr txBox="1"/>
          <p:nvPr/>
        </p:nvSpPr>
        <p:spPr>
          <a:xfrm>
            <a:off x="2103120" y="1234440"/>
            <a:ext cx="219456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11½ min</a:t>
            </a:r>
            <a:endParaRPr lang="en-US" sz="4000" dirty="0"/>
          </a:p>
        </p:txBody>
      </p:sp>
      <p:sp>
        <p:nvSpPr>
          <p:cNvPr id="6" name="stat-label-218"/>
          <p:cNvSpPr txBox="1"/>
          <p:nvPr/>
        </p:nvSpPr>
        <p:spPr>
          <a:xfrm>
            <a:off x="2103120" y="2057400"/>
            <a:ext cx="2194560" cy="548640"/>
          </a:xfrm>
          <a:prstGeom prst="rect">
            <a:avLst/>
          </a:prstGeom>
          <a:noFill/>
          <a:ln/>
        </p:spPr>
        <p:txBody>
          <a:bodyPr wrap="square" lIns="0" tIns="0" rIns="0" bIns="0" rtlCol="0" anchor="t"/>
          <a:lstStyle/>
          <a:p>
            <a:pPr indent="0" marL="0">
              <a:buNone/>
            </a:pPr>
            <a:r>
              <a:rPr lang="en-US" sz="1400" dirty="0">
                <a:solidFill>
                  <a:schemeClr val="accent4"/>
                </a:solidFill>
              </a:rPr>
              <a:t>terraform apply</a:t>
            </a:r>
            <a:endParaRPr lang="en-US" sz="1400" dirty="0"/>
          </a:p>
        </p:txBody>
      </p:sp>
      <p:sp>
        <p:nvSpPr>
          <p:cNvPr id="7" name="stat-219"/>
          <p:cNvSpPr txBox="1"/>
          <p:nvPr/>
        </p:nvSpPr>
        <p:spPr>
          <a:xfrm>
            <a:off x="4434840" y="1234440"/>
            <a:ext cx="1417320" cy="77724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0</a:t>
            </a:r>
            <a:endParaRPr lang="en-US" sz="4000" dirty="0"/>
          </a:p>
        </p:txBody>
      </p:sp>
      <p:sp>
        <p:nvSpPr>
          <p:cNvPr id="8" name="stat-label-220"/>
          <p:cNvSpPr txBox="1"/>
          <p:nvPr/>
        </p:nvSpPr>
        <p:spPr>
          <a:xfrm>
            <a:off x="4434840" y="2057400"/>
            <a:ext cx="1417320" cy="548640"/>
          </a:xfrm>
          <a:prstGeom prst="rect">
            <a:avLst/>
          </a:prstGeom>
          <a:noFill/>
          <a:ln/>
        </p:spPr>
        <p:txBody>
          <a:bodyPr wrap="square" lIns="0" tIns="0" rIns="0" bIns="0" rtlCol="0" anchor="t"/>
          <a:lstStyle/>
          <a:p>
            <a:pPr indent="0" marL="0">
              <a:buNone/>
            </a:pPr>
            <a:r>
              <a:rPr lang="en-US" sz="1400" dirty="0">
                <a:solidFill>
                  <a:schemeClr val="accent4"/>
                </a:solidFill>
              </a:rPr>
              <a:t>left after destroy</a:t>
            </a:r>
            <a:endParaRPr lang="en-US" sz="1400" dirty="0"/>
          </a:p>
        </p:txBody>
      </p:sp>
      <p:sp>
        <p:nvSpPr>
          <p:cNvPr id="9" name="tf-list"/>
          <p:cNvSpPr txBox="1"/>
          <p:nvPr/>
        </p:nvSpPr>
        <p:spPr>
          <a:xfrm>
            <a:off x="548640" y="2971800"/>
            <a:ext cx="5120640" cy="31089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VPC 10.42.0.0/16 across 2 availability zones</a:t>
            </a:r>
            <a:endParaRPr lang="en-US" sz="1500" dirty="0"/>
          </a:p>
          <a:p>
            <a:pPr marL="342900" indent="-342900">
              <a:spcAft>
                <a:spcPts val="800"/>
              </a:spcAft>
              <a:buSzPct val="100000"/>
              <a:buChar char="•"/>
            </a:pPr>
            <a:r>
              <a:rPr lang="en-US" sz="1500" dirty="0">
                <a:solidFill>
                  <a:schemeClr val="tx1"/>
                </a:solidFill>
              </a:rPr>
              <a:t>2 public subnets (load balancers) + 2 private subnets (nodes)</a:t>
            </a:r>
            <a:endParaRPr lang="en-US" sz="1500" dirty="0"/>
          </a:p>
          <a:p>
            <a:pPr marL="342900" indent="-342900">
              <a:spcAft>
                <a:spcPts val="800"/>
              </a:spcAft>
              <a:buSzPct val="100000"/>
              <a:buChar char="•"/>
            </a:pPr>
            <a:r>
              <a:rPr lang="en-US" sz="1500" dirty="0">
                <a:solidFill>
                  <a:schemeClr val="tx1"/>
                </a:solidFill>
              </a:rPr>
              <a:t>Internet gateway, NAT gateway, route tables</a:t>
            </a:r>
            <a:endParaRPr lang="en-US" sz="1500" dirty="0"/>
          </a:p>
          <a:p>
            <a:pPr marL="342900" indent="-342900">
              <a:spcAft>
                <a:spcPts val="800"/>
              </a:spcAft>
              <a:buSzPct val="100000"/>
              <a:buChar char="•"/>
            </a:pPr>
            <a:r>
              <a:rPr lang="en-US" sz="1500" dirty="0">
                <a:solidFill>
                  <a:schemeClr val="tx1"/>
                </a:solidFill>
              </a:rPr>
              <a:t>IAM roles for the cluster and the nodes</a:t>
            </a:r>
            <a:endParaRPr lang="en-US" sz="1500" dirty="0"/>
          </a:p>
          <a:p>
            <a:pPr marL="342900" indent="-342900">
              <a:spcAft>
                <a:spcPts val="800"/>
              </a:spcAft>
              <a:buSzPct val="100000"/>
              <a:buChar char="•"/>
            </a:pPr>
            <a:r>
              <a:rPr lang="en-US" sz="1500" dirty="0">
                <a:solidFill>
                  <a:schemeClr val="tx1"/>
                </a:solidFill>
              </a:rPr>
              <a:t>EKS 1.36 + managed node group: 2 × t3.medium</a:t>
            </a:r>
            <a:endParaRPr lang="en-US" sz="1500" dirty="0"/>
          </a:p>
          <a:p>
            <a:pPr marL="342900" indent="-342900">
              <a:spcAft>
                <a:spcPts val="800"/>
              </a:spcAft>
              <a:buSzPct val="100000"/>
              <a:buChar char="•"/>
            </a:pPr>
            <a:r>
              <a:rPr lang="en-US" sz="1500" dirty="0">
                <a:solidFill>
                  <a:schemeClr val="tx1"/>
                </a:solidFill>
              </a:rPr>
              <a:t>API endpoint restricted to one IP; no keys in code</a:t>
            </a:r>
            <a:endParaRPr lang="en-US" sz="1500" dirty="0"/>
          </a:p>
        </p:txBody>
      </p:sp>
      <p:pic>
        <p:nvPicPr>
          <p:cNvPr id="10" name="screenshot-221" descr="/work/img/eks.png">    </p:cNvPr>
          <p:cNvPicPr>
            <a:picLocks noChangeAspect="1"/>
          </p:cNvPicPr>
          <p:nvPr/>
        </p:nvPicPr>
        <p:blipFill>
          <a:blip r:embed="rId1"/>
          <a:stretch>
            <a:fillRect/>
          </a:stretch>
        </p:blipFill>
        <p:spPr>
          <a:xfrm>
            <a:off x="6035040" y="1325880"/>
            <a:ext cx="5577840" cy="2331720"/>
          </a:xfrm>
          <a:prstGeom prst="rect">
            <a:avLst/>
          </a:prstGeom>
          <a:effectLst>
            <a:outerShdw sx="100000" sy="100000" kx="0" ky="0" algn="bl" rotWithShape="0" blurRad="101600" dist="25400" dir="5400000">
              <a:srgbClr val="0F1C24">
                <a:alpha val="18000"/>
              </a:srgbClr>
            </a:outerShdw>
          </a:effectLst>
        </p:spPr>
      </p:pic>
      <p:pic>
        <p:nvPicPr>
          <p:cNvPr id="11" name="screenshot-222" descr="/work/img/vpc-map.png">    </p:cNvPr>
          <p:cNvPicPr>
            <a:picLocks noChangeAspect="1"/>
          </p:cNvPicPr>
          <p:nvPr/>
        </p:nvPicPr>
        <p:blipFill>
          <a:blip r:embed="rId2"/>
          <a:stretch>
            <a:fillRect/>
          </a:stretch>
        </p:blipFill>
        <p:spPr>
          <a:xfrm>
            <a:off x="6035040" y="3931920"/>
            <a:ext cx="3566160" cy="2075688"/>
          </a:xfrm>
          <a:prstGeom prst="rect">
            <a:avLst/>
          </a:prstGeom>
          <a:effectLst>
            <a:outerShdw sx="100000" sy="100000" kx="0" ky="0" algn="bl" rotWithShape="0" blurRad="101600" dist="25400" dir="5400000">
              <a:srgbClr val="0F1C24">
                <a:alpha val="18000"/>
              </a:srgbClr>
            </a:outerShdw>
          </a:effectLst>
        </p:spPr>
      </p:pic>
      <p:sp>
        <p:nvSpPr>
          <p:cNvPr id="12" name="caption-223"/>
          <p:cNvSpPr txBox="1"/>
          <p:nvPr/>
        </p:nvSpPr>
        <p:spPr>
          <a:xfrm>
            <a:off x="9784080" y="3977640"/>
            <a:ext cx="1828800" cy="2011680"/>
          </a:xfrm>
          <a:prstGeom prst="rect">
            <a:avLst/>
          </a:prstGeom>
          <a:noFill/>
          <a:ln/>
        </p:spPr>
        <p:txBody>
          <a:bodyPr wrap="square" lIns="0" tIns="0" rIns="0" bIns="0" rtlCol="0" anchor="t"/>
          <a:lstStyle/>
          <a:p>
            <a:pPr indent="0" marL="0">
              <a:buNone/>
            </a:pPr>
            <a:r>
              <a:rPr lang="en-US" sz="1200" i="1" dirty="0">
                <a:solidFill>
                  <a:schemeClr val="accent4"/>
                </a:solidFill>
              </a:rPr>
              <a:t>AWS Console: the EKS cluster Active on 1.36, and the VPC with its 4 subnets. Account details redacted.</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Kubernetes + Helm</a:t>
            </a:r>
            <a:endParaRPr lang="en-US" sz="3600" dirty="0"/>
          </a:p>
        </p:txBody>
      </p:sp>
      <p:sp>
        <p:nvSpPr>
          <p:cNvPr id="3" name="box-224"/>
          <p:cNvSpPr/>
          <p:nvPr/>
        </p:nvSpPr>
        <p:spPr>
          <a:xfrm>
            <a:off x="548640" y="2971800"/>
            <a:ext cx="2194560" cy="1005840"/>
          </a:xfrm>
          <a:prstGeom prst="roundRect">
            <a:avLst>
              <a:gd name="adj" fmla="val 9091"/>
            </a:avLst>
          </a:prstGeom>
          <a:solidFill>
            <a:schemeClr val="bg1"/>
          </a:solidFill>
          <a:ln w="15875">
            <a:solidFill>
              <a:srgbClr val="0F766E"/>
            </a:solidFill>
            <a:prstDash val="solid"/>
          </a:ln>
        </p:spPr>
      </p:sp>
      <p:sp>
        <p:nvSpPr>
          <p:cNvPr id="4" name="box-text-225"/>
          <p:cNvSpPr txBox="1"/>
          <p:nvPr/>
        </p:nvSpPr>
        <p:spPr>
          <a:xfrm>
            <a:off x="621792" y="2971800"/>
            <a:ext cx="2048256" cy="1005840"/>
          </a:xfrm>
          <a:prstGeom prst="rect">
            <a:avLst/>
          </a:prstGeom>
          <a:noFill/>
          <a:ln/>
        </p:spPr>
        <p:txBody>
          <a:bodyPr wrap="square" lIns="0" tIns="0" rIns="0" bIns="0" rtlCol="0" anchor="ctr"/>
          <a:lstStyle/>
          <a:p>
            <a:pPr algn="ctr" indent="0" marL="0">
              <a:buNone/>
            </a:pPr>
            <a:r>
              <a:rPr lang="en-US" sz="1400" b="1" dirty="0">
                <a:solidFill>
                  <a:schemeClr val="tx2"/>
                </a:solidFill>
              </a:rPr>
              <a:t>Ingress</a:t>
            </a:r>
            <a:endParaRPr lang="en-US" sz="1400" dirty="0"/>
          </a:p>
          <a:p>
            <a:pPr algn="ctr" indent="0" marL="0">
              <a:buNone/>
            </a:pPr>
            <a:r>
              <a:rPr lang="en-US" sz="1100" dirty="0">
                <a:solidFill>
                  <a:schemeClr val="accent4"/>
                </a:solidFill>
              </a:rPr>
              <a:t>stockpilot.local</a:t>
            </a:r>
            <a:endParaRPr lang="en-US" sz="1400" dirty="0"/>
          </a:p>
        </p:txBody>
      </p:sp>
      <p:sp>
        <p:nvSpPr>
          <p:cNvPr id="5" name="box-226"/>
          <p:cNvSpPr/>
          <p:nvPr/>
        </p:nvSpPr>
        <p:spPr>
          <a:xfrm>
            <a:off x="3657600" y="1600200"/>
            <a:ext cx="2926080" cy="1005840"/>
          </a:xfrm>
          <a:prstGeom prst="roundRect">
            <a:avLst>
              <a:gd name="adj" fmla="val 9091"/>
            </a:avLst>
          </a:prstGeom>
          <a:solidFill>
            <a:schemeClr val="bg1"/>
          </a:solidFill>
          <a:ln w="15875">
            <a:solidFill>
              <a:srgbClr val="0F766E"/>
            </a:solidFill>
            <a:prstDash val="solid"/>
          </a:ln>
        </p:spPr>
      </p:sp>
      <p:sp>
        <p:nvSpPr>
          <p:cNvPr id="6" name="box-text-227"/>
          <p:cNvSpPr txBox="1"/>
          <p:nvPr/>
        </p:nvSpPr>
        <p:spPr>
          <a:xfrm>
            <a:off x="3730752" y="1600200"/>
            <a:ext cx="2779776" cy="1005840"/>
          </a:xfrm>
          <a:prstGeom prst="rect">
            <a:avLst/>
          </a:prstGeom>
          <a:noFill/>
          <a:ln/>
        </p:spPr>
        <p:txBody>
          <a:bodyPr wrap="square" lIns="0" tIns="0" rIns="0" bIns="0" rtlCol="0" anchor="ctr"/>
          <a:lstStyle/>
          <a:p>
            <a:pPr algn="ctr" indent="0" marL="0">
              <a:buNone/>
            </a:pPr>
            <a:r>
              <a:rPr lang="en-US" sz="1400" b="1" dirty="0">
                <a:solidFill>
                  <a:schemeClr val="tx2"/>
                </a:solidFill>
              </a:rPr>
              <a:t>frontend Deployment</a:t>
            </a:r>
            <a:endParaRPr lang="en-US" sz="1400" dirty="0"/>
          </a:p>
          <a:p>
            <a:pPr algn="ctr" indent="0" marL="0">
              <a:buNone/>
            </a:pPr>
            <a:r>
              <a:rPr lang="en-US" sz="1100" dirty="0">
                <a:solidFill>
                  <a:schemeClr val="accent4"/>
                </a:solidFill>
              </a:rPr>
              <a:t>2 pods · nginx</a:t>
            </a:r>
            <a:endParaRPr lang="en-US" sz="1400" dirty="0"/>
          </a:p>
        </p:txBody>
      </p:sp>
      <p:sp>
        <p:nvSpPr>
          <p:cNvPr id="7" name="box-228"/>
          <p:cNvSpPr/>
          <p:nvPr/>
        </p:nvSpPr>
        <p:spPr>
          <a:xfrm>
            <a:off x="3657600" y="4251960"/>
            <a:ext cx="2926080" cy="1005840"/>
          </a:xfrm>
          <a:prstGeom prst="roundRect">
            <a:avLst>
              <a:gd name="adj" fmla="val 9091"/>
            </a:avLst>
          </a:prstGeom>
          <a:solidFill>
            <a:schemeClr val="bg1"/>
          </a:solidFill>
          <a:ln w="15875">
            <a:solidFill>
              <a:srgbClr val="0F766E"/>
            </a:solidFill>
            <a:prstDash val="solid"/>
          </a:ln>
        </p:spPr>
      </p:sp>
      <p:sp>
        <p:nvSpPr>
          <p:cNvPr id="8" name="box-text-229"/>
          <p:cNvSpPr txBox="1"/>
          <p:nvPr/>
        </p:nvSpPr>
        <p:spPr>
          <a:xfrm>
            <a:off x="3730752" y="4251960"/>
            <a:ext cx="2779776" cy="1005840"/>
          </a:xfrm>
          <a:prstGeom prst="rect">
            <a:avLst/>
          </a:prstGeom>
          <a:noFill/>
          <a:ln/>
        </p:spPr>
        <p:txBody>
          <a:bodyPr wrap="square" lIns="0" tIns="0" rIns="0" bIns="0" rtlCol="0" anchor="ctr"/>
          <a:lstStyle/>
          <a:p>
            <a:pPr algn="ctr" indent="0" marL="0">
              <a:buNone/>
            </a:pPr>
            <a:r>
              <a:rPr lang="en-US" sz="1400" b="1" dirty="0">
                <a:solidFill>
                  <a:schemeClr val="tx2"/>
                </a:solidFill>
              </a:rPr>
              <a:t>backend Deployment</a:t>
            </a:r>
            <a:endParaRPr lang="en-US" sz="1400" dirty="0"/>
          </a:p>
          <a:p>
            <a:pPr algn="ctr" indent="0" marL="0">
              <a:buNone/>
            </a:pPr>
            <a:r>
              <a:rPr lang="en-US" sz="1100" dirty="0">
                <a:solidFill>
                  <a:schemeClr val="accent4"/>
                </a:solidFill>
              </a:rPr>
              <a:t>2-6 pods · HPA at 60% CPU</a:t>
            </a:r>
            <a:endParaRPr lang="en-US" sz="1400" dirty="0"/>
          </a:p>
        </p:txBody>
      </p:sp>
      <p:sp>
        <p:nvSpPr>
          <p:cNvPr id="9" name="box-230"/>
          <p:cNvSpPr/>
          <p:nvPr/>
        </p:nvSpPr>
        <p:spPr>
          <a:xfrm>
            <a:off x="3657600" y="2971800"/>
            <a:ext cx="2926080" cy="1005840"/>
          </a:xfrm>
          <a:prstGeom prst="roundRect">
            <a:avLst>
              <a:gd name="adj" fmla="val 9091"/>
            </a:avLst>
          </a:prstGeom>
          <a:solidFill>
            <a:schemeClr val="bg1"/>
          </a:solidFill>
          <a:ln w="15875">
            <a:solidFill>
              <a:srgbClr val="0F766E"/>
            </a:solidFill>
            <a:prstDash val="solid"/>
          </a:ln>
        </p:spPr>
      </p:sp>
      <p:sp>
        <p:nvSpPr>
          <p:cNvPr id="10" name="box-text-231"/>
          <p:cNvSpPr txBox="1"/>
          <p:nvPr/>
        </p:nvSpPr>
        <p:spPr>
          <a:xfrm>
            <a:off x="3730752" y="2971800"/>
            <a:ext cx="2779776" cy="1005840"/>
          </a:xfrm>
          <a:prstGeom prst="rect">
            <a:avLst/>
          </a:prstGeom>
          <a:noFill/>
          <a:ln/>
        </p:spPr>
        <p:txBody>
          <a:bodyPr wrap="square" lIns="0" tIns="0" rIns="0" bIns="0" rtlCol="0" anchor="ctr"/>
          <a:lstStyle/>
          <a:p>
            <a:pPr algn="ctr" indent="0" marL="0">
              <a:buNone/>
            </a:pPr>
            <a:r>
              <a:rPr lang="en-US" sz="1400" b="1" dirty="0">
                <a:solidFill>
                  <a:schemeClr val="tx2"/>
                </a:solidFill>
              </a:rPr>
              <a:t>Services (ClusterIP)</a:t>
            </a:r>
            <a:endParaRPr lang="en-US" sz="1400" dirty="0"/>
          </a:p>
          <a:p>
            <a:pPr algn="ctr" indent="0" marL="0">
              <a:buNone/>
            </a:pPr>
            <a:r>
              <a:rPr lang="en-US" sz="1100" dirty="0">
                <a:solidFill>
                  <a:schemeClr val="accent4"/>
                </a:solidFill>
              </a:rPr>
              <a:t>frontend :80 · backend :8000</a:t>
            </a:r>
            <a:endParaRPr lang="en-US" sz="1400" dirty="0"/>
          </a:p>
        </p:txBody>
      </p:sp>
      <p:sp>
        <p:nvSpPr>
          <p:cNvPr id="11" name="box-232"/>
          <p:cNvSpPr/>
          <p:nvPr/>
        </p:nvSpPr>
        <p:spPr>
          <a:xfrm>
            <a:off x="3657600" y="5486400"/>
            <a:ext cx="2926080" cy="685800"/>
          </a:xfrm>
          <a:prstGeom prst="roundRect">
            <a:avLst>
              <a:gd name="adj" fmla="val 13333"/>
            </a:avLst>
          </a:prstGeom>
          <a:solidFill>
            <a:schemeClr val="bg1"/>
          </a:solidFill>
          <a:ln w="15875">
            <a:solidFill>
              <a:srgbClr val="0F766E"/>
            </a:solidFill>
            <a:prstDash val="solid"/>
          </a:ln>
        </p:spPr>
      </p:sp>
      <p:sp>
        <p:nvSpPr>
          <p:cNvPr id="12" name="box-text-233"/>
          <p:cNvSpPr txBox="1"/>
          <p:nvPr/>
        </p:nvSpPr>
        <p:spPr>
          <a:xfrm>
            <a:off x="3730752" y="5486400"/>
            <a:ext cx="2779776" cy="685800"/>
          </a:xfrm>
          <a:prstGeom prst="rect">
            <a:avLst/>
          </a:prstGeom>
          <a:noFill/>
          <a:ln/>
        </p:spPr>
        <p:txBody>
          <a:bodyPr wrap="square" lIns="0" tIns="0" rIns="0" bIns="0" rtlCol="0" anchor="ctr"/>
          <a:lstStyle/>
          <a:p>
            <a:pPr algn="ctr" indent="0" marL="0">
              <a:buNone/>
            </a:pPr>
            <a:r>
              <a:rPr lang="en-US" sz="1400" b="1" dirty="0">
                <a:solidFill>
                  <a:schemeClr val="tx2"/>
                </a:solidFill>
              </a:rPr>
              <a:t>PostgreSQL StatefulSet</a:t>
            </a:r>
            <a:endParaRPr lang="en-US" sz="1400" dirty="0"/>
          </a:p>
          <a:p>
            <a:pPr algn="ctr" indent="0" marL="0">
              <a:buNone/>
            </a:pPr>
            <a:r>
              <a:rPr lang="en-US" sz="1100" dirty="0">
                <a:solidFill>
                  <a:schemeClr val="accent4"/>
                </a:solidFill>
              </a:rPr>
              <a:t>1Gi PVC</a:t>
            </a:r>
            <a:endParaRPr lang="en-US" sz="1400" dirty="0"/>
          </a:p>
        </p:txBody>
      </p:sp>
      <p:sp>
        <p:nvSpPr>
          <p:cNvPr id="13" name="arrow-234"/>
          <p:cNvSpPr/>
          <p:nvPr/>
        </p:nvSpPr>
        <p:spPr>
          <a:xfrm flipV="1">
            <a:off x="2743200" y="2103120"/>
            <a:ext cx="914400" cy="1188720"/>
          </a:xfrm>
          <a:prstGeom prst="line">
            <a:avLst/>
          </a:prstGeom>
          <a:noFill/>
          <a:ln w="19050">
            <a:solidFill>
              <a:srgbClr val="5B6B7A"/>
            </a:solidFill>
            <a:prstDash val="solid"/>
            <a:tailEnd type="triangle"/>
          </a:ln>
        </p:spPr>
      </p:sp>
      <p:sp>
        <p:nvSpPr>
          <p:cNvPr id="14" name="arrow-label-235"/>
          <p:cNvSpPr txBox="1"/>
          <p:nvPr/>
        </p:nvSpPr>
        <p:spPr>
          <a:xfrm>
            <a:off x="2377440" y="2313432"/>
            <a:ext cx="1645920" cy="274320"/>
          </a:xfrm>
          <a:prstGeom prst="rect">
            <a:avLst/>
          </a:prstGeom>
          <a:noFill/>
          <a:ln/>
        </p:spPr>
        <p:txBody>
          <a:bodyPr wrap="square" lIns="0" tIns="0" rIns="0" bIns="0" rtlCol="0" anchor="t"/>
          <a:lstStyle/>
          <a:p>
            <a:pPr algn="ctr" indent="0" marL="0">
              <a:buNone/>
            </a:pPr>
            <a:r>
              <a:rPr lang="en-US" sz="1100" dirty="0">
                <a:solidFill>
                  <a:schemeClr val="accent4"/>
                </a:solidFill>
              </a:rPr>
              <a:t>/</a:t>
            </a:r>
            <a:endParaRPr lang="en-US" sz="1100" dirty="0"/>
          </a:p>
        </p:txBody>
      </p:sp>
      <p:sp>
        <p:nvSpPr>
          <p:cNvPr id="15" name="arrow-236"/>
          <p:cNvSpPr/>
          <p:nvPr/>
        </p:nvSpPr>
        <p:spPr>
          <a:xfrm>
            <a:off x="2743200" y="3657600"/>
            <a:ext cx="914400" cy="1097280"/>
          </a:xfrm>
          <a:prstGeom prst="line">
            <a:avLst/>
          </a:prstGeom>
          <a:noFill/>
          <a:ln w="19050">
            <a:solidFill>
              <a:srgbClr val="5B6B7A"/>
            </a:solidFill>
            <a:prstDash val="solid"/>
            <a:tailEnd type="triangle"/>
          </a:ln>
        </p:spPr>
      </p:sp>
      <p:sp>
        <p:nvSpPr>
          <p:cNvPr id="16" name="arrow-label-237"/>
          <p:cNvSpPr txBox="1"/>
          <p:nvPr/>
        </p:nvSpPr>
        <p:spPr>
          <a:xfrm>
            <a:off x="2377440" y="3822192"/>
            <a:ext cx="1645920" cy="274320"/>
          </a:xfrm>
          <a:prstGeom prst="rect">
            <a:avLst/>
          </a:prstGeom>
          <a:noFill/>
          <a:ln/>
        </p:spPr>
        <p:txBody>
          <a:bodyPr wrap="square" lIns="0" tIns="0" rIns="0" bIns="0" rtlCol="0" anchor="t"/>
          <a:lstStyle/>
          <a:p>
            <a:pPr algn="ctr" indent="0" marL="0">
              <a:buNone/>
            </a:pPr>
            <a:r>
              <a:rPr lang="en-US" sz="1100" dirty="0">
                <a:solidFill>
                  <a:schemeClr val="accent4"/>
                </a:solidFill>
              </a:rPr>
              <a:t>/api</a:t>
            </a:r>
            <a:endParaRPr lang="en-US" sz="1100" dirty="0"/>
          </a:p>
        </p:txBody>
      </p:sp>
      <p:sp>
        <p:nvSpPr>
          <p:cNvPr id="17" name="arrow-238"/>
          <p:cNvSpPr/>
          <p:nvPr/>
        </p:nvSpPr>
        <p:spPr>
          <a:xfrm>
            <a:off x="5120640" y="5257800"/>
            <a:ext cx="914" cy="228600"/>
          </a:xfrm>
          <a:prstGeom prst="line">
            <a:avLst/>
          </a:prstGeom>
          <a:noFill/>
          <a:ln w="19050">
            <a:solidFill>
              <a:srgbClr val="5B6B7A"/>
            </a:solidFill>
            <a:prstDash val="solid"/>
            <a:tailEnd type="triangle"/>
          </a:ln>
        </p:spPr>
      </p:sp>
      <p:sp>
        <p:nvSpPr>
          <p:cNvPr id="18" name="objs-head-239"/>
          <p:cNvSpPr txBox="1"/>
          <p:nvPr/>
        </p:nvSpPr>
        <p:spPr>
          <a:xfrm>
            <a:off x="7223760" y="1417320"/>
            <a:ext cx="4389120" cy="365760"/>
          </a:xfrm>
          <a:prstGeom prst="rect">
            <a:avLst/>
          </a:prstGeom>
          <a:noFill/>
          <a:ln/>
        </p:spPr>
        <p:txBody>
          <a:bodyPr wrap="square" lIns="0" tIns="0" rIns="0" bIns="0" rtlCol="0" anchor="t"/>
          <a:lstStyle/>
          <a:p>
            <a:pPr indent="0" marL="0">
              <a:buNone/>
            </a:pPr>
            <a:r>
              <a:rPr lang="en-US" sz="1800" b="1" dirty="0">
                <a:solidFill>
                  <a:schemeClr val="tx2"/>
                </a:solidFill>
              </a:rPr>
              <a:t>One Helm chart deploys</a:t>
            </a:r>
            <a:endParaRPr lang="en-US" sz="1800" dirty="0"/>
          </a:p>
        </p:txBody>
      </p:sp>
      <p:sp>
        <p:nvSpPr>
          <p:cNvPr id="19" name="chip-240"/>
          <p:cNvSpPr/>
          <p:nvPr/>
        </p:nvSpPr>
        <p:spPr>
          <a:xfrm>
            <a:off x="7223760" y="1920240"/>
            <a:ext cx="2103120" cy="502920"/>
          </a:xfrm>
          <a:prstGeom prst="roundRect">
            <a:avLst>
              <a:gd name="adj" fmla="val 49091"/>
            </a:avLst>
          </a:prstGeom>
          <a:solidFill>
            <a:schemeClr val="bg2"/>
          </a:solidFill>
          <a:ln/>
        </p:spPr>
      </p:sp>
      <p:sp>
        <p:nvSpPr>
          <p:cNvPr id="20" name="chip-text-241"/>
          <p:cNvSpPr txBox="1"/>
          <p:nvPr/>
        </p:nvSpPr>
        <p:spPr>
          <a:xfrm>
            <a:off x="7223760" y="1920240"/>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2 Deployments</a:t>
            </a:r>
            <a:endParaRPr lang="en-US" sz="1300" dirty="0"/>
          </a:p>
        </p:txBody>
      </p:sp>
      <p:sp>
        <p:nvSpPr>
          <p:cNvPr id="21" name="chip-242"/>
          <p:cNvSpPr/>
          <p:nvPr/>
        </p:nvSpPr>
        <p:spPr>
          <a:xfrm>
            <a:off x="9464040" y="1920240"/>
            <a:ext cx="2103120" cy="502920"/>
          </a:xfrm>
          <a:prstGeom prst="roundRect">
            <a:avLst>
              <a:gd name="adj" fmla="val 49091"/>
            </a:avLst>
          </a:prstGeom>
          <a:solidFill>
            <a:schemeClr val="bg2"/>
          </a:solidFill>
          <a:ln/>
        </p:spPr>
      </p:sp>
      <p:sp>
        <p:nvSpPr>
          <p:cNvPr id="22" name="chip-text-243"/>
          <p:cNvSpPr txBox="1"/>
          <p:nvPr/>
        </p:nvSpPr>
        <p:spPr>
          <a:xfrm>
            <a:off x="9464040" y="1920240"/>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3 Services</a:t>
            </a:r>
            <a:endParaRPr lang="en-US" sz="1300" dirty="0"/>
          </a:p>
        </p:txBody>
      </p:sp>
      <p:sp>
        <p:nvSpPr>
          <p:cNvPr id="23" name="chip-244"/>
          <p:cNvSpPr/>
          <p:nvPr/>
        </p:nvSpPr>
        <p:spPr>
          <a:xfrm>
            <a:off x="7223760" y="2578608"/>
            <a:ext cx="2103120" cy="502920"/>
          </a:xfrm>
          <a:prstGeom prst="roundRect">
            <a:avLst>
              <a:gd name="adj" fmla="val 49091"/>
            </a:avLst>
          </a:prstGeom>
          <a:solidFill>
            <a:schemeClr val="bg2"/>
          </a:solidFill>
          <a:ln/>
        </p:spPr>
      </p:sp>
      <p:sp>
        <p:nvSpPr>
          <p:cNvPr id="24" name="chip-text-245"/>
          <p:cNvSpPr txBox="1"/>
          <p:nvPr/>
        </p:nvSpPr>
        <p:spPr>
          <a:xfrm>
            <a:off x="7223760" y="2578608"/>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StatefulSet + PVC</a:t>
            </a:r>
            <a:endParaRPr lang="en-US" sz="1300" dirty="0"/>
          </a:p>
        </p:txBody>
      </p:sp>
      <p:sp>
        <p:nvSpPr>
          <p:cNvPr id="25" name="chip-246"/>
          <p:cNvSpPr/>
          <p:nvPr/>
        </p:nvSpPr>
        <p:spPr>
          <a:xfrm>
            <a:off x="9464040" y="2578608"/>
            <a:ext cx="2103120" cy="502920"/>
          </a:xfrm>
          <a:prstGeom prst="roundRect">
            <a:avLst>
              <a:gd name="adj" fmla="val 49091"/>
            </a:avLst>
          </a:prstGeom>
          <a:solidFill>
            <a:schemeClr val="bg2"/>
          </a:solidFill>
          <a:ln/>
        </p:spPr>
      </p:sp>
      <p:sp>
        <p:nvSpPr>
          <p:cNvPr id="26" name="chip-text-247"/>
          <p:cNvSpPr txBox="1"/>
          <p:nvPr/>
        </p:nvSpPr>
        <p:spPr>
          <a:xfrm>
            <a:off x="9464040" y="2578608"/>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Ingress</a:t>
            </a:r>
            <a:endParaRPr lang="en-US" sz="1300" dirty="0"/>
          </a:p>
        </p:txBody>
      </p:sp>
      <p:sp>
        <p:nvSpPr>
          <p:cNvPr id="27" name="chip-248"/>
          <p:cNvSpPr/>
          <p:nvPr/>
        </p:nvSpPr>
        <p:spPr>
          <a:xfrm>
            <a:off x="7223760" y="3236976"/>
            <a:ext cx="2103120" cy="502920"/>
          </a:xfrm>
          <a:prstGeom prst="roundRect">
            <a:avLst>
              <a:gd name="adj" fmla="val 49091"/>
            </a:avLst>
          </a:prstGeom>
          <a:solidFill>
            <a:schemeClr val="bg2"/>
          </a:solidFill>
          <a:ln/>
        </p:spPr>
      </p:sp>
      <p:sp>
        <p:nvSpPr>
          <p:cNvPr id="28" name="chip-text-249"/>
          <p:cNvSpPr txBox="1"/>
          <p:nvPr/>
        </p:nvSpPr>
        <p:spPr>
          <a:xfrm>
            <a:off x="7223760" y="3236976"/>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HorizontalPodAutoscaler</a:t>
            </a:r>
            <a:endParaRPr lang="en-US" sz="1300" dirty="0"/>
          </a:p>
        </p:txBody>
      </p:sp>
      <p:sp>
        <p:nvSpPr>
          <p:cNvPr id="29" name="chip-250"/>
          <p:cNvSpPr/>
          <p:nvPr/>
        </p:nvSpPr>
        <p:spPr>
          <a:xfrm>
            <a:off x="9464040" y="3236976"/>
            <a:ext cx="2103120" cy="502920"/>
          </a:xfrm>
          <a:prstGeom prst="roundRect">
            <a:avLst>
              <a:gd name="adj" fmla="val 49091"/>
            </a:avLst>
          </a:prstGeom>
          <a:solidFill>
            <a:schemeClr val="bg2"/>
          </a:solidFill>
          <a:ln/>
        </p:spPr>
      </p:sp>
      <p:sp>
        <p:nvSpPr>
          <p:cNvPr id="30" name="chip-text-251"/>
          <p:cNvSpPr txBox="1"/>
          <p:nvPr/>
        </p:nvSpPr>
        <p:spPr>
          <a:xfrm>
            <a:off x="9464040" y="3236976"/>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2 PodDisruptionBudgets</a:t>
            </a:r>
            <a:endParaRPr lang="en-US" sz="1300" dirty="0"/>
          </a:p>
        </p:txBody>
      </p:sp>
      <p:sp>
        <p:nvSpPr>
          <p:cNvPr id="31" name="chip-252"/>
          <p:cNvSpPr/>
          <p:nvPr/>
        </p:nvSpPr>
        <p:spPr>
          <a:xfrm>
            <a:off x="7223760" y="3895344"/>
            <a:ext cx="2103120" cy="502920"/>
          </a:xfrm>
          <a:prstGeom prst="roundRect">
            <a:avLst>
              <a:gd name="adj" fmla="val 49091"/>
            </a:avLst>
          </a:prstGeom>
          <a:solidFill>
            <a:schemeClr val="bg2"/>
          </a:solidFill>
          <a:ln/>
        </p:spPr>
      </p:sp>
      <p:sp>
        <p:nvSpPr>
          <p:cNvPr id="32" name="chip-text-253"/>
          <p:cNvSpPr txBox="1"/>
          <p:nvPr/>
        </p:nvSpPr>
        <p:spPr>
          <a:xfrm>
            <a:off x="7223760" y="3895344"/>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ConfigMap + Secret</a:t>
            </a:r>
            <a:endParaRPr lang="en-US" sz="1300" dirty="0"/>
          </a:p>
        </p:txBody>
      </p:sp>
      <p:sp>
        <p:nvSpPr>
          <p:cNvPr id="33" name="chip-254"/>
          <p:cNvSpPr/>
          <p:nvPr/>
        </p:nvSpPr>
        <p:spPr>
          <a:xfrm>
            <a:off x="9464040" y="3895344"/>
            <a:ext cx="2103120" cy="502920"/>
          </a:xfrm>
          <a:prstGeom prst="roundRect">
            <a:avLst>
              <a:gd name="adj" fmla="val 49091"/>
            </a:avLst>
          </a:prstGeom>
          <a:solidFill>
            <a:schemeClr val="bg2"/>
          </a:solidFill>
          <a:ln/>
        </p:spPr>
      </p:sp>
      <p:sp>
        <p:nvSpPr>
          <p:cNvPr id="34" name="chip-text-255"/>
          <p:cNvSpPr txBox="1"/>
          <p:nvPr/>
        </p:nvSpPr>
        <p:spPr>
          <a:xfrm>
            <a:off x="9464040" y="3895344"/>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ServiceMonitor</a:t>
            </a:r>
            <a:endParaRPr lang="en-US" sz="1300" dirty="0"/>
          </a:p>
        </p:txBody>
      </p:sp>
      <p:sp>
        <p:nvSpPr>
          <p:cNvPr id="35" name="chip-256"/>
          <p:cNvSpPr/>
          <p:nvPr/>
        </p:nvSpPr>
        <p:spPr>
          <a:xfrm>
            <a:off x="7223760" y="4553712"/>
            <a:ext cx="2103120" cy="502920"/>
          </a:xfrm>
          <a:prstGeom prst="roundRect">
            <a:avLst>
              <a:gd name="adj" fmla="val 49091"/>
            </a:avLst>
          </a:prstGeom>
          <a:solidFill>
            <a:schemeClr val="bg2"/>
          </a:solidFill>
          <a:ln/>
        </p:spPr>
      </p:sp>
      <p:sp>
        <p:nvSpPr>
          <p:cNvPr id="36" name="chip-text-257"/>
          <p:cNvSpPr txBox="1"/>
          <p:nvPr/>
        </p:nvSpPr>
        <p:spPr>
          <a:xfrm>
            <a:off x="7223760" y="4553712"/>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PrometheusRule</a:t>
            </a:r>
            <a:endParaRPr lang="en-US" sz="1300" dirty="0"/>
          </a:p>
        </p:txBody>
      </p:sp>
      <p:sp>
        <p:nvSpPr>
          <p:cNvPr id="37" name="chip-258"/>
          <p:cNvSpPr/>
          <p:nvPr/>
        </p:nvSpPr>
        <p:spPr>
          <a:xfrm>
            <a:off x="9464040" y="4553712"/>
            <a:ext cx="2103120" cy="502920"/>
          </a:xfrm>
          <a:prstGeom prst="roundRect">
            <a:avLst>
              <a:gd name="adj" fmla="val 49091"/>
            </a:avLst>
          </a:prstGeom>
          <a:solidFill>
            <a:schemeClr val="bg2"/>
          </a:solidFill>
          <a:ln/>
        </p:spPr>
      </p:sp>
      <p:sp>
        <p:nvSpPr>
          <p:cNvPr id="38" name="chip-text-259"/>
          <p:cNvSpPr txBox="1"/>
          <p:nvPr/>
        </p:nvSpPr>
        <p:spPr>
          <a:xfrm>
            <a:off x="9464040" y="4553712"/>
            <a:ext cx="2103120" cy="502920"/>
          </a:xfrm>
          <a:prstGeom prst="rect">
            <a:avLst/>
          </a:prstGeom>
          <a:noFill/>
          <a:ln/>
        </p:spPr>
        <p:txBody>
          <a:bodyPr wrap="square" lIns="0" tIns="0" rIns="0" bIns="0" rtlCol="0" anchor="ctr"/>
          <a:lstStyle/>
          <a:p>
            <a:pPr algn="ctr" indent="0" marL="0">
              <a:buNone/>
            </a:pPr>
            <a:r>
              <a:rPr lang="en-US" sz="1300" dirty="0">
                <a:solidFill>
                  <a:schemeClr val="tx2"/>
                </a:solidFill>
              </a:rPr>
              <a:t>Grafana dashboard</a:t>
            </a:r>
            <a:endParaRPr lang="en-US" sz="1300" dirty="0"/>
          </a:p>
        </p:txBody>
      </p:sp>
      <p:sp>
        <p:nvSpPr>
          <p:cNvPr id="39" name="lint-260"/>
          <p:cNvSpPr txBox="1"/>
          <p:nvPr/>
        </p:nvSpPr>
        <p:spPr>
          <a:xfrm>
            <a:off x="7223760" y="5303520"/>
            <a:ext cx="4389120" cy="365760"/>
          </a:xfrm>
          <a:prstGeom prst="rect">
            <a:avLst/>
          </a:prstGeom>
          <a:noFill/>
          <a:ln/>
        </p:spPr>
        <p:txBody>
          <a:bodyPr wrap="square" lIns="0" tIns="0" rIns="0" bIns="0" rtlCol="0" anchor="t"/>
          <a:lstStyle/>
          <a:p>
            <a:pPr indent="0" marL="0">
              <a:buNone/>
            </a:pPr>
            <a:r>
              <a:rPr lang="en-US" sz="1400" i="1" dirty="0">
                <a:solidFill>
                  <a:schemeClr val="accent4"/>
                </a:solidFill>
              </a:rPr>
              <a:t>helm lint passes with dev, default and prod values</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Autoscaling under real load</a:t>
            </a:r>
            <a:endParaRPr lang="en-US" sz="3600" dirty="0"/>
          </a:p>
        </p:txBody>
      </p:sp>
      <p:graphicFrame>
        <p:nvGraphicFramePr>
          <p:cNvPr id="3" name="hpa-cpu" descr=""/>
          <p:cNvGraphicFramePr/>
          <p:nvPr/>
        </p:nvGraphicFramePr>
        <p:xfrm>
          <a:off x="548640" y="1280160"/>
          <a:ext cx="6949440" cy="24688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hpa-pods" descr=""/>
          <p:cNvGraphicFramePr/>
          <p:nvPr/>
        </p:nvGraphicFramePr>
        <p:xfrm>
          <a:off x="548640" y="3794760"/>
          <a:ext cx="6949440" cy="2377440"/>
        </p:xfrm>
        <a:graphic xmlns:a="http://schemas.openxmlformats.org/drawingml/2006/main">
          <a:graphicData uri="http://schemas.openxmlformats.org/drawingml/2006/chart">
            <c:chart xmlns:c="http://schemas.openxmlformats.org/drawingml/2006/chart" r:id="rId2"/>
          </a:graphicData>
        </a:graphic>
      </p:graphicFrame>
      <p:sp>
        <p:nvSpPr>
          <p:cNvPr id="5" name="stat-261"/>
          <p:cNvSpPr txBox="1"/>
          <p:nvPr/>
        </p:nvSpPr>
        <p:spPr>
          <a:xfrm>
            <a:off x="8001000" y="1234440"/>
            <a:ext cx="3611880" cy="777240"/>
          </a:xfrm>
          <a:prstGeom prst="rect">
            <a:avLst/>
          </a:prstGeom>
          <a:noFill/>
          <a:ln/>
        </p:spPr>
        <p:txBody>
          <a:bodyPr wrap="square" lIns="0" tIns="0" rIns="0" bIns="0" rtlCol="0" anchor="b"/>
          <a:lstStyle/>
          <a:p>
            <a:pPr indent="0" marL="0">
              <a:buNone/>
            </a:pPr>
            <a:r>
              <a:rPr lang="en-US" sz="4400" b="1" dirty="0">
                <a:solidFill>
                  <a:schemeClr val="accent1"/>
                </a:solidFill>
                <a:latin typeface="Arial" pitchFamily="34" charset="0"/>
                <a:ea typeface="Arial" pitchFamily="34" charset="-122"/>
                <a:cs typeface="Arial" pitchFamily="34" charset="-120"/>
              </a:rPr>
              <a:t>580%</a:t>
            </a:r>
            <a:endParaRPr lang="en-US" sz="4400" dirty="0"/>
          </a:p>
        </p:txBody>
      </p:sp>
      <p:sp>
        <p:nvSpPr>
          <p:cNvPr id="6" name="stat-label-262"/>
          <p:cNvSpPr txBox="1"/>
          <p:nvPr/>
        </p:nvSpPr>
        <p:spPr>
          <a:xfrm>
            <a:off x="8001000" y="2057400"/>
            <a:ext cx="3611880" cy="548640"/>
          </a:xfrm>
          <a:prstGeom prst="rect">
            <a:avLst/>
          </a:prstGeom>
          <a:noFill/>
          <a:ln/>
        </p:spPr>
        <p:txBody>
          <a:bodyPr wrap="square" lIns="0" tIns="0" rIns="0" bIns="0" rtlCol="0" anchor="t"/>
          <a:lstStyle/>
          <a:p>
            <a:pPr indent="0" marL="0">
              <a:buNone/>
            </a:pPr>
            <a:r>
              <a:rPr lang="en-US" sz="1400" dirty="0">
                <a:solidFill>
                  <a:schemeClr val="accent4"/>
                </a:solidFill>
              </a:rPr>
              <a:t>of the CPU target when load started</a:t>
            </a:r>
            <a:endParaRPr lang="en-US" sz="1400" dirty="0"/>
          </a:p>
        </p:txBody>
      </p:sp>
      <p:sp>
        <p:nvSpPr>
          <p:cNvPr id="7" name="stat-263"/>
          <p:cNvSpPr txBox="1"/>
          <p:nvPr/>
        </p:nvSpPr>
        <p:spPr>
          <a:xfrm>
            <a:off x="8001000" y="2697480"/>
            <a:ext cx="3611880" cy="777240"/>
          </a:xfrm>
          <a:prstGeom prst="rect">
            <a:avLst/>
          </a:prstGeom>
          <a:noFill/>
          <a:ln/>
        </p:spPr>
        <p:txBody>
          <a:bodyPr wrap="square" lIns="0" tIns="0" rIns="0" bIns="0" rtlCol="0" anchor="b"/>
          <a:lstStyle/>
          <a:p>
            <a:pPr indent="0" marL="0">
              <a:buNone/>
            </a:pPr>
            <a:r>
              <a:rPr lang="en-US" sz="4400" b="1" dirty="0">
                <a:solidFill>
                  <a:schemeClr val="accent3"/>
                </a:solidFill>
                <a:latin typeface="Arial" pitchFamily="34" charset="0"/>
                <a:ea typeface="Arial" pitchFamily="34" charset="-122"/>
                <a:cs typeface="Arial" pitchFamily="34" charset="-120"/>
              </a:rPr>
              <a:t>2 → 6</a:t>
            </a:r>
            <a:endParaRPr lang="en-US" sz="4400" dirty="0"/>
          </a:p>
        </p:txBody>
      </p:sp>
      <p:sp>
        <p:nvSpPr>
          <p:cNvPr id="8" name="stat-label-264"/>
          <p:cNvSpPr txBox="1"/>
          <p:nvPr/>
        </p:nvSpPr>
        <p:spPr>
          <a:xfrm>
            <a:off x="8001000" y="3520440"/>
            <a:ext cx="3611880" cy="548640"/>
          </a:xfrm>
          <a:prstGeom prst="rect">
            <a:avLst/>
          </a:prstGeom>
          <a:noFill/>
          <a:ln/>
        </p:spPr>
        <p:txBody>
          <a:bodyPr wrap="square" lIns="0" tIns="0" rIns="0" bIns="0" rtlCol="0" anchor="t"/>
          <a:lstStyle/>
          <a:p>
            <a:pPr indent="0" marL="0">
              <a:buNone/>
            </a:pPr>
            <a:r>
              <a:rPr lang="en-US" sz="1400" dirty="0">
                <a:solidFill>
                  <a:schemeClr val="accent4"/>
                </a:solidFill>
              </a:rPr>
              <a:t>pods, all Ready within 30 s</a:t>
            </a:r>
            <a:endParaRPr lang="en-US" sz="1400" dirty="0"/>
          </a:p>
        </p:txBody>
      </p:sp>
      <p:sp>
        <p:nvSpPr>
          <p:cNvPr id="9" name="stat-265"/>
          <p:cNvSpPr txBox="1"/>
          <p:nvPr/>
        </p:nvSpPr>
        <p:spPr>
          <a:xfrm>
            <a:off x="8001000" y="4160520"/>
            <a:ext cx="3611880" cy="777240"/>
          </a:xfrm>
          <a:prstGeom prst="rect">
            <a:avLst/>
          </a:prstGeom>
          <a:noFill/>
          <a:ln/>
        </p:spPr>
        <p:txBody>
          <a:bodyPr wrap="square" lIns="0" tIns="0" rIns="0" bIns="0" rtlCol="0" anchor="b"/>
          <a:lstStyle/>
          <a:p>
            <a:pPr indent="0" marL="0">
              <a:buNone/>
            </a:pPr>
            <a:r>
              <a:rPr lang="en-US" sz="4400" b="1" dirty="0">
                <a:solidFill>
                  <a:schemeClr val="accent1"/>
                </a:solidFill>
                <a:latin typeface="Arial" pitchFamily="34" charset="0"/>
                <a:ea typeface="Arial" pitchFamily="34" charset="-122"/>
                <a:cs typeface="Arial" pitchFamily="34" charset="-120"/>
              </a:rPr>
              <a:t>≈ 75 s</a:t>
            </a:r>
            <a:endParaRPr lang="en-US" sz="4400" dirty="0"/>
          </a:p>
        </p:txBody>
      </p:sp>
      <p:sp>
        <p:nvSpPr>
          <p:cNvPr id="10" name="stat-label-266"/>
          <p:cNvSpPr txBox="1"/>
          <p:nvPr/>
        </p:nvSpPr>
        <p:spPr>
          <a:xfrm>
            <a:off x="8001000" y="4983480"/>
            <a:ext cx="3611880" cy="548640"/>
          </a:xfrm>
          <a:prstGeom prst="rect">
            <a:avLst/>
          </a:prstGeom>
          <a:noFill/>
          <a:ln/>
        </p:spPr>
        <p:txBody>
          <a:bodyPr wrap="square" lIns="0" tIns="0" rIns="0" bIns="0" rtlCol="0" anchor="t"/>
          <a:lstStyle/>
          <a:p>
            <a:pPr indent="0" marL="0">
              <a:buNone/>
            </a:pPr>
            <a:r>
              <a:rPr lang="en-US" sz="1400" dirty="0">
                <a:solidFill>
                  <a:schemeClr val="accent4"/>
                </a:solidFill>
              </a:rPr>
              <a:t>after the load stopped, back to 2 pods</a:t>
            </a:r>
            <a:endParaRPr lang="en-US" sz="1400" dirty="0"/>
          </a:p>
        </p:txBody>
      </p:sp>
      <p:sp>
        <p:nvSpPr>
          <p:cNvPr id="11" name="ceiling-267"/>
          <p:cNvSpPr txBox="1"/>
          <p:nvPr/>
        </p:nvSpPr>
        <p:spPr>
          <a:xfrm>
            <a:off x="8001000" y="5532120"/>
            <a:ext cx="3611880" cy="731520"/>
          </a:xfrm>
          <a:prstGeom prst="rect">
            <a:avLst/>
          </a:prstGeom>
          <a:noFill/>
          <a:ln/>
        </p:spPr>
        <p:txBody>
          <a:bodyPr wrap="square" lIns="0" tIns="0" rIns="0" bIns="0" rtlCol="0" anchor="t"/>
          <a:lstStyle/>
          <a:p>
            <a:pPr indent="0" marL="0">
              <a:buNone/>
            </a:pPr>
            <a:r>
              <a:rPr lang="en-US" sz="1200" i="1" dirty="0">
                <a:solidFill>
                  <a:schemeClr val="accent4"/>
                </a:solidFill>
              </a:rPr>
              <a:t>At 6 pods the single node hit 96% CPU: the HPA adds pods, not machines. On EKS a cluster autoscaler adds nodes.</a:t>
            </a:r>
            <a:endParaRPr lang="en-US" sz="12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Observability: Prometheus + Grafana</a:t>
            </a:r>
            <a:endParaRPr lang="en-US" sz="3600" dirty="0"/>
          </a:p>
        </p:txBody>
      </p:sp>
      <p:pic>
        <p:nvPicPr>
          <p:cNvPr id="3" name="screenshot-268" descr="/work/img/grafana.png">    </p:cNvPr>
          <p:cNvPicPr>
            <a:picLocks noChangeAspect="1"/>
          </p:cNvPicPr>
          <p:nvPr/>
        </p:nvPicPr>
        <p:blipFill>
          <a:blip r:embed="rId1"/>
          <a:stretch>
            <a:fillRect/>
          </a:stretch>
        </p:blipFill>
        <p:spPr>
          <a:xfrm>
            <a:off x="548640" y="1325880"/>
            <a:ext cx="7498080" cy="4151376"/>
          </a:xfrm>
          <a:prstGeom prst="rect">
            <a:avLst/>
          </a:prstGeom>
          <a:effectLst>
            <a:outerShdw sx="100000" sy="100000" kx="0" ky="0" algn="bl" rotWithShape="0" blurRad="101600" dist="25400" dir="5400000">
              <a:srgbClr val="0F1C24">
                <a:alpha val="18000"/>
              </a:srgbClr>
            </a:outerShdw>
          </a:effectLst>
        </p:spPr>
      </p:pic>
      <p:sp>
        <p:nvSpPr>
          <p:cNvPr id="4" name="caption-269"/>
          <p:cNvSpPr txBox="1"/>
          <p:nvPr/>
        </p:nvSpPr>
        <p:spPr>
          <a:xfrm>
            <a:off x="548640" y="5623560"/>
            <a:ext cx="7498080" cy="457200"/>
          </a:xfrm>
          <a:prstGeom prst="rect">
            <a:avLst/>
          </a:prstGeom>
          <a:noFill/>
          <a:ln/>
        </p:spPr>
        <p:txBody>
          <a:bodyPr wrap="square" lIns="0" tIns="0" rIns="0" bIns="0" rtlCol="0" anchor="t"/>
          <a:lstStyle/>
          <a:p>
            <a:pPr indent="0" marL="0">
              <a:buNone/>
            </a:pPr>
            <a:r>
              <a:rPr lang="en-US" sz="1200" i="1" dirty="0">
                <a:solidFill>
                  <a:schemeClr val="accent4"/>
                </a:solidFill>
              </a:rPr>
              <a:t>StockPilot dashboard after the load test: request rate, status codes, p95 latency, replicas, CPU and stock</a:t>
            </a:r>
            <a:endParaRPr lang="en-US" sz="1200" dirty="0"/>
          </a:p>
        </p:txBody>
      </p:sp>
      <p:sp>
        <p:nvSpPr>
          <p:cNvPr id="5" name="badge-270"/>
          <p:cNvSpPr/>
          <p:nvPr/>
        </p:nvSpPr>
        <p:spPr>
          <a:xfrm>
            <a:off x="8412480" y="1371600"/>
            <a:ext cx="566928" cy="566928"/>
          </a:xfrm>
          <a:prstGeom prst="ellipse">
            <a:avLst/>
          </a:prstGeom>
          <a:solidFill>
            <a:schemeClr val="accent1"/>
          </a:solidFill>
          <a:ln/>
        </p:spPr>
      </p:sp>
      <p:pic>
        <p:nvPicPr>
          <p:cNvPr id="6" name="badge-icon-271" descr="preencoded.png">    </p:cNvPr>
          <p:cNvPicPr>
            <a:picLocks noChangeAspect="1"/>
          </p:cNvPicPr>
          <p:nvPr/>
        </p:nvPicPr>
        <p:blipFill>
          <a:blip r:embed="rId2"/>
          <a:stretch>
            <a:fillRect/>
          </a:stretch>
        </p:blipFill>
        <p:spPr>
          <a:xfrm>
            <a:off x="8537204" y="1496324"/>
            <a:ext cx="317480" cy="317480"/>
          </a:xfrm>
          <a:prstGeom prst="rect">
            <a:avLst/>
          </a:prstGeom>
        </p:spPr>
      </p:pic>
      <p:sp>
        <p:nvSpPr>
          <p:cNvPr id="7" name="obs-title-272"/>
          <p:cNvSpPr txBox="1"/>
          <p:nvPr/>
        </p:nvSpPr>
        <p:spPr>
          <a:xfrm>
            <a:off x="9144000" y="1353312"/>
            <a:ext cx="2514600" cy="365760"/>
          </a:xfrm>
          <a:prstGeom prst="rect">
            <a:avLst/>
          </a:prstGeom>
          <a:noFill/>
          <a:ln/>
        </p:spPr>
        <p:txBody>
          <a:bodyPr wrap="square" lIns="0" tIns="0" rIns="0" bIns="0" rtlCol="0" anchor="t"/>
          <a:lstStyle/>
          <a:p>
            <a:pPr indent="0" marL="0">
              <a:buNone/>
            </a:pPr>
            <a:r>
              <a:rPr lang="en-US" sz="1700" b="1" dirty="0">
                <a:solidFill>
                  <a:schemeClr val="tx2"/>
                </a:solidFill>
              </a:rPr>
              <a:t>6 / 6 targets UP</a:t>
            </a:r>
            <a:endParaRPr lang="en-US" sz="1700" dirty="0"/>
          </a:p>
        </p:txBody>
      </p:sp>
      <p:sp>
        <p:nvSpPr>
          <p:cNvPr id="8" name="obs-text-273"/>
          <p:cNvSpPr txBox="1"/>
          <p:nvPr/>
        </p:nvSpPr>
        <p:spPr>
          <a:xfrm>
            <a:off x="9144000" y="1737360"/>
            <a:ext cx="2514600" cy="1097280"/>
          </a:xfrm>
          <a:prstGeom prst="rect">
            <a:avLst/>
          </a:prstGeom>
          <a:noFill/>
          <a:ln/>
        </p:spPr>
        <p:txBody>
          <a:bodyPr wrap="square" lIns="0" tIns="0" rIns="0" bIns="0" rtlCol="0" anchor="t"/>
          <a:lstStyle/>
          <a:p>
            <a:pPr indent="0" marL="0">
              <a:buNone/>
            </a:pPr>
            <a:r>
              <a:rPr lang="en-US" sz="1300" dirty="0">
                <a:solidFill>
                  <a:schemeClr val="accent4"/>
                </a:solidFill>
              </a:rPr>
              <a:t>a ServiceMonitor scrapes every backend pod's /metrics</a:t>
            </a:r>
            <a:endParaRPr lang="en-US" sz="1300" dirty="0"/>
          </a:p>
        </p:txBody>
      </p:sp>
      <p:sp>
        <p:nvSpPr>
          <p:cNvPr id="9" name="badge-274"/>
          <p:cNvSpPr/>
          <p:nvPr/>
        </p:nvSpPr>
        <p:spPr>
          <a:xfrm>
            <a:off x="8412480" y="2971800"/>
            <a:ext cx="566928" cy="566928"/>
          </a:xfrm>
          <a:prstGeom prst="ellipse">
            <a:avLst/>
          </a:prstGeom>
          <a:solidFill>
            <a:schemeClr val="accent1"/>
          </a:solidFill>
          <a:ln/>
        </p:spPr>
      </p:sp>
      <p:pic>
        <p:nvPicPr>
          <p:cNvPr id="10" name="badge-icon-275" descr="preencoded.png">    </p:cNvPr>
          <p:cNvPicPr>
            <a:picLocks noChangeAspect="1"/>
          </p:cNvPicPr>
          <p:nvPr/>
        </p:nvPicPr>
        <p:blipFill>
          <a:blip r:embed="rId3"/>
          <a:stretch>
            <a:fillRect/>
          </a:stretch>
        </p:blipFill>
        <p:spPr>
          <a:xfrm>
            <a:off x="8537204" y="3096524"/>
            <a:ext cx="317480" cy="317480"/>
          </a:xfrm>
          <a:prstGeom prst="rect">
            <a:avLst/>
          </a:prstGeom>
        </p:spPr>
      </p:pic>
      <p:sp>
        <p:nvSpPr>
          <p:cNvPr id="11" name="obs-title-276"/>
          <p:cNvSpPr txBox="1"/>
          <p:nvPr/>
        </p:nvSpPr>
        <p:spPr>
          <a:xfrm>
            <a:off x="9144000" y="2953512"/>
            <a:ext cx="2514600" cy="365760"/>
          </a:xfrm>
          <a:prstGeom prst="rect">
            <a:avLst/>
          </a:prstGeom>
          <a:noFill/>
          <a:ln/>
        </p:spPr>
        <p:txBody>
          <a:bodyPr wrap="square" lIns="0" tIns="0" rIns="0" bIns="0" rtlCol="0" anchor="t"/>
          <a:lstStyle/>
          <a:p>
            <a:pPr indent="0" marL="0">
              <a:buNone/>
            </a:pPr>
            <a:r>
              <a:rPr lang="en-US" sz="1700" b="1" dirty="0">
                <a:solidFill>
                  <a:schemeClr val="tx2"/>
                </a:solidFill>
              </a:rPr>
              <a:t>5 alert rules</a:t>
            </a:r>
            <a:endParaRPr lang="en-US" sz="1700" dirty="0"/>
          </a:p>
        </p:txBody>
      </p:sp>
      <p:sp>
        <p:nvSpPr>
          <p:cNvPr id="12" name="obs-text-277"/>
          <p:cNvSpPr txBox="1"/>
          <p:nvPr/>
        </p:nvSpPr>
        <p:spPr>
          <a:xfrm>
            <a:off x="9144000" y="3337560"/>
            <a:ext cx="2514600" cy="1097280"/>
          </a:xfrm>
          <a:prstGeom prst="rect">
            <a:avLst/>
          </a:prstGeom>
          <a:noFill/>
          <a:ln/>
        </p:spPr>
        <p:txBody>
          <a:bodyPr wrap="square" lIns="0" tIns="0" rIns="0" bIns="0" rtlCol="0" anchor="t"/>
          <a:lstStyle/>
          <a:p>
            <a:pPr indent="0" marL="0">
              <a:buNone/>
            </a:pPr>
            <a:r>
              <a:rPr lang="en-US" sz="1300" dirty="0">
                <a:solidFill>
                  <a:schemeClr val="accent4"/>
                </a:solidFill>
              </a:rPr>
              <a:t>backend down, 5xx ratio, p95 latency, HPA at max, and a business alert for products to reorder</a:t>
            </a:r>
            <a:endParaRPr lang="en-US" sz="1300" dirty="0"/>
          </a:p>
        </p:txBody>
      </p:sp>
      <p:sp>
        <p:nvSpPr>
          <p:cNvPr id="13" name="badge-278"/>
          <p:cNvSpPr/>
          <p:nvPr/>
        </p:nvSpPr>
        <p:spPr>
          <a:xfrm>
            <a:off x="8412480" y="4572000"/>
            <a:ext cx="566928" cy="566928"/>
          </a:xfrm>
          <a:prstGeom prst="ellipse">
            <a:avLst/>
          </a:prstGeom>
          <a:solidFill>
            <a:schemeClr val="accent1"/>
          </a:solidFill>
          <a:ln/>
        </p:spPr>
      </p:sp>
      <p:pic>
        <p:nvPicPr>
          <p:cNvPr id="14" name="badge-icon-279" descr="preencoded.png">    </p:cNvPr>
          <p:cNvPicPr>
            <a:picLocks noChangeAspect="1"/>
          </p:cNvPicPr>
          <p:nvPr/>
        </p:nvPicPr>
        <p:blipFill>
          <a:blip r:embed="rId4"/>
          <a:stretch>
            <a:fillRect/>
          </a:stretch>
        </p:blipFill>
        <p:spPr>
          <a:xfrm>
            <a:off x="8537204" y="4696724"/>
            <a:ext cx="317480" cy="317480"/>
          </a:xfrm>
          <a:prstGeom prst="rect">
            <a:avLst/>
          </a:prstGeom>
        </p:spPr>
      </p:pic>
      <p:sp>
        <p:nvSpPr>
          <p:cNvPr id="15" name="obs-title-280"/>
          <p:cNvSpPr txBox="1"/>
          <p:nvPr/>
        </p:nvSpPr>
        <p:spPr>
          <a:xfrm>
            <a:off x="9144000" y="4553712"/>
            <a:ext cx="2514600" cy="365760"/>
          </a:xfrm>
          <a:prstGeom prst="rect">
            <a:avLst/>
          </a:prstGeom>
          <a:noFill/>
          <a:ln/>
        </p:spPr>
        <p:txBody>
          <a:bodyPr wrap="square" lIns="0" tIns="0" rIns="0" bIns="0" rtlCol="0" anchor="t"/>
          <a:lstStyle/>
          <a:p>
            <a:pPr indent="0" marL="0">
              <a:buNone/>
            </a:pPr>
            <a:r>
              <a:rPr lang="en-US" sz="1700" b="1" dirty="0">
                <a:solidFill>
                  <a:schemeClr val="tx2"/>
                </a:solidFill>
              </a:rPr>
              <a:t>Dashboard as code</a:t>
            </a:r>
            <a:endParaRPr lang="en-US" sz="1700" dirty="0"/>
          </a:p>
        </p:txBody>
      </p:sp>
      <p:sp>
        <p:nvSpPr>
          <p:cNvPr id="16" name="obs-text-281"/>
          <p:cNvSpPr txBox="1"/>
          <p:nvPr/>
        </p:nvSpPr>
        <p:spPr>
          <a:xfrm>
            <a:off x="9144000" y="4937760"/>
            <a:ext cx="2514600" cy="1097280"/>
          </a:xfrm>
          <a:prstGeom prst="rect">
            <a:avLst/>
          </a:prstGeom>
          <a:noFill/>
          <a:ln/>
        </p:spPr>
        <p:txBody>
          <a:bodyPr wrap="square" lIns="0" tIns="0" rIns="0" bIns="0" rtlCol="0" anchor="t"/>
          <a:lstStyle/>
          <a:p>
            <a:pPr indent="0" marL="0">
              <a:buNone/>
            </a:pPr>
            <a:r>
              <a:rPr lang="en-US" sz="1300" dirty="0">
                <a:solidFill>
                  <a:schemeClr val="accent4"/>
                </a:solidFill>
              </a:rPr>
              <a:t>ships in the Helm chart; Grafana loads it automatically</a:t>
            </a:r>
            <a:endParaRPr lang="en-US" sz="13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Troubleshooting lab</a:t>
            </a:r>
            <a:endParaRPr lang="en-US" sz="3600" dirty="0"/>
          </a:p>
        </p:txBody>
      </p:sp>
      <p:sp>
        <p:nvSpPr>
          <p:cNvPr id="3" name="flow-head-282"/>
          <p:cNvSpPr txBox="1"/>
          <p:nvPr/>
        </p:nvSpPr>
        <p:spPr>
          <a:xfrm>
            <a:off x="548640" y="1371600"/>
            <a:ext cx="2514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SYMPTOM</a:t>
            </a:r>
            <a:endParaRPr lang="en-US" sz="1200" dirty="0"/>
          </a:p>
        </p:txBody>
      </p:sp>
      <p:sp>
        <p:nvSpPr>
          <p:cNvPr id="4" name="flow-head-283"/>
          <p:cNvSpPr txBox="1"/>
          <p:nvPr/>
        </p:nvSpPr>
        <p:spPr>
          <a:xfrm>
            <a:off x="3383280" y="1371600"/>
            <a:ext cx="2514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INVESTIGATE</a:t>
            </a:r>
            <a:endParaRPr lang="en-US" sz="1200" dirty="0"/>
          </a:p>
        </p:txBody>
      </p:sp>
      <p:sp>
        <p:nvSpPr>
          <p:cNvPr id="5" name="flow-head-284"/>
          <p:cNvSpPr txBox="1"/>
          <p:nvPr/>
        </p:nvSpPr>
        <p:spPr>
          <a:xfrm>
            <a:off x="6217920" y="1371600"/>
            <a:ext cx="2514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ROOT CAUSE</a:t>
            </a:r>
            <a:endParaRPr lang="en-US" sz="1200" dirty="0"/>
          </a:p>
        </p:txBody>
      </p:sp>
      <p:sp>
        <p:nvSpPr>
          <p:cNvPr id="6" name="flow-head-285"/>
          <p:cNvSpPr txBox="1"/>
          <p:nvPr/>
        </p:nvSpPr>
        <p:spPr>
          <a:xfrm>
            <a:off x="9052560" y="1371600"/>
            <a:ext cx="25146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FIX</a:t>
            </a:r>
            <a:endParaRPr lang="en-US" sz="1200" dirty="0"/>
          </a:p>
        </p:txBody>
      </p:sp>
      <p:sp>
        <p:nvSpPr>
          <p:cNvPr id="7" name="box-286"/>
          <p:cNvSpPr/>
          <p:nvPr/>
        </p:nvSpPr>
        <p:spPr>
          <a:xfrm>
            <a:off x="548640" y="1828800"/>
            <a:ext cx="2514600" cy="1691640"/>
          </a:xfrm>
          <a:prstGeom prst="roundRect">
            <a:avLst>
              <a:gd name="adj" fmla="val 5405"/>
            </a:avLst>
          </a:prstGeom>
          <a:solidFill>
            <a:schemeClr val="bg1"/>
          </a:solidFill>
          <a:ln w="15875">
            <a:solidFill>
              <a:srgbClr val="0F766E"/>
            </a:solidFill>
            <a:prstDash val="solid"/>
          </a:ln>
        </p:spPr>
      </p:sp>
      <p:sp>
        <p:nvSpPr>
          <p:cNvPr id="8" name="box-text-287"/>
          <p:cNvSpPr txBox="1"/>
          <p:nvPr/>
        </p:nvSpPr>
        <p:spPr>
          <a:xfrm>
            <a:off x="621792" y="182880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Pods stuck in ImagePullBackOff</a:t>
            </a:r>
            <a:endParaRPr lang="en-US" sz="1400" dirty="0"/>
          </a:p>
        </p:txBody>
      </p:sp>
      <p:sp>
        <p:nvSpPr>
          <p:cNvPr id="9" name="arrow-288"/>
          <p:cNvSpPr/>
          <p:nvPr/>
        </p:nvSpPr>
        <p:spPr>
          <a:xfrm>
            <a:off x="3063240" y="2670048"/>
            <a:ext cx="320040" cy="914"/>
          </a:xfrm>
          <a:prstGeom prst="line">
            <a:avLst/>
          </a:prstGeom>
          <a:noFill/>
          <a:ln w="19050">
            <a:solidFill>
              <a:srgbClr val="5B6B7A"/>
            </a:solidFill>
            <a:prstDash val="solid"/>
            <a:tailEnd type="triangle"/>
          </a:ln>
        </p:spPr>
      </p:sp>
      <p:sp>
        <p:nvSpPr>
          <p:cNvPr id="10" name="box-289"/>
          <p:cNvSpPr/>
          <p:nvPr/>
        </p:nvSpPr>
        <p:spPr>
          <a:xfrm>
            <a:off x="3383280" y="1828800"/>
            <a:ext cx="2514600" cy="1691640"/>
          </a:xfrm>
          <a:prstGeom prst="roundRect">
            <a:avLst>
              <a:gd name="adj" fmla="val 5405"/>
            </a:avLst>
          </a:prstGeom>
          <a:solidFill>
            <a:schemeClr val="bg1"/>
          </a:solidFill>
          <a:ln w="15875">
            <a:solidFill>
              <a:srgbClr val="0F766E"/>
            </a:solidFill>
            <a:prstDash val="solid"/>
          </a:ln>
        </p:spPr>
      </p:sp>
      <p:sp>
        <p:nvSpPr>
          <p:cNvPr id="11" name="box-text-290"/>
          <p:cNvSpPr txBox="1"/>
          <p:nvPr/>
        </p:nvSpPr>
        <p:spPr>
          <a:xfrm>
            <a:off x="3456432" y="182880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kubectl describe pod: image reference not found</a:t>
            </a:r>
            <a:endParaRPr lang="en-US" sz="1400" dirty="0"/>
          </a:p>
        </p:txBody>
      </p:sp>
      <p:sp>
        <p:nvSpPr>
          <p:cNvPr id="12" name="arrow-291"/>
          <p:cNvSpPr/>
          <p:nvPr/>
        </p:nvSpPr>
        <p:spPr>
          <a:xfrm>
            <a:off x="5897880" y="2670048"/>
            <a:ext cx="320040" cy="914"/>
          </a:xfrm>
          <a:prstGeom prst="line">
            <a:avLst/>
          </a:prstGeom>
          <a:noFill/>
          <a:ln w="19050">
            <a:solidFill>
              <a:srgbClr val="5B6B7A"/>
            </a:solidFill>
            <a:prstDash val="solid"/>
            <a:tailEnd type="triangle"/>
          </a:ln>
        </p:spPr>
      </p:sp>
      <p:sp>
        <p:nvSpPr>
          <p:cNvPr id="13" name="box-292"/>
          <p:cNvSpPr/>
          <p:nvPr/>
        </p:nvSpPr>
        <p:spPr>
          <a:xfrm>
            <a:off x="6217920" y="1828800"/>
            <a:ext cx="2514600" cy="1691640"/>
          </a:xfrm>
          <a:prstGeom prst="roundRect">
            <a:avLst>
              <a:gd name="adj" fmla="val 5405"/>
            </a:avLst>
          </a:prstGeom>
          <a:solidFill>
            <a:schemeClr val="bg2"/>
          </a:solidFill>
          <a:ln w="15875">
            <a:solidFill>
              <a:srgbClr val="0F766E"/>
            </a:solidFill>
            <a:prstDash val="solid"/>
          </a:ln>
        </p:spPr>
      </p:sp>
      <p:sp>
        <p:nvSpPr>
          <p:cNvPr id="14" name="box-text-293"/>
          <p:cNvSpPr txBox="1"/>
          <p:nvPr/>
        </p:nvSpPr>
        <p:spPr>
          <a:xfrm>
            <a:off x="6291072" y="182880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Image tag typo: 1.31‑alpinee</a:t>
            </a:r>
            <a:endParaRPr lang="en-US" sz="1400" dirty="0"/>
          </a:p>
        </p:txBody>
      </p:sp>
      <p:sp>
        <p:nvSpPr>
          <p:cNvPr id="15" name="arrow-294"/>
          <p:cNvSpPr/>
          <p:nvPr/>
        </p:nvSpPr>
        <p:spPr>
          <a:xfrm>
            <a:off x="8732520" y="2670048"/>
            <a:ext cx="320040" cy="914"/>
          </a:xfrm>
          <a:prstGeom prst="line">
            <a:avLst/>
          </a:prstGeom>
          <a:noFill/>
          <a:ln w="19050">
            <a:solidFill>
              <a:srgbClr val="5B6B7A"/>
            </a:solidFill>
            <a:prstDash val="solid"/>
            <a:tailEnd type="triangle"/>
          </a:ln>
        </p:spPr>
      </p:sp>
      <p:sp>
        <p:nvSpPr>
          <p:cNvPr id="16" name="box-295"/>
          <p:cNvSpPr/>
          <p:nvPr/>
        </p:nvSpPr>
        <p:spPr>
          <a:xfrm>
            <a:off x="9052560" y="1828800"/>
            <a:ext cx="2514600" cy="1691640"/>
          </a:xfrm>
          <a:prstGeom prst="roundRect">
            <a:avLst>
              <a:gd name="adj" fmla="val 5405"/>
            </a:avLst>
          </a:prstGeom>
          <a:solidFill>
            <a:schemeClr val="bg1"/>
          </a:solidFill>
          <a:ln w="15875">
            <a:solidFill>
              <a:srgbClr val="0F766E"/>
            </a:solidFill>
            <a:prstDash val="solid"/>
          </a:ln>
        </p:spPr>
      </p:sp>
      <p:sp>
        <p:nvSpPr>
          <p:cNvPr id="17" name="box-text-296"/>
          <p:cNvSpPr txBox="1"/>
          <p:nvPr/>
        </p:nvSpPr>
        <p:spPr>
          <a:xfrm>
            <a:off x="9125712" y="1828800"/>
            <a:ext cx="2368296" cy="1691640"/>
          </a:xfrm>
          <a:prstGeom prst="rect">
            <a:avLst/>
          </a:prstGeom>
          <a:noFill/>
          <a:ln/>
        </p:spPr>
        <p:txBody>
          <a:bodyPr wrap="square" lIns="0" tIns="0" rIns="0" bIns="0" rtlCol="0" anchor="ctr"/>
          <a:lstStyle/>
          <a:p>
            <a:pPr algn="ctr" indent="0" marL="0">
              <a:buNone/>
            </a:pPr>
            <a:r>
              <a:rPr lang="en-US" sz="1400" b="1" dirty="0">
                <a:solidFill>
                  <a:schemeClr val="accent6"/>
                </a:solidFill>
              </a:rPr>
              <a:t>kubectl set image → rollout succeeds</a:t>
            </a:r>
            <a:endParaRPr lang="en-US" sz="1400" dirty="0"/>
          </a:p>
        </p:txBody>
      </p:sp>
      <p:sp>
        <p:nvSpPr>
          <p:cNvPr id="18" name="box-297"/>
          <p:cNvSpPr/>
          <p:nvPr/>
        </p:nvSpPr>
        <p:spPr>
          <a:xfrm>
            <a:off x="548640" y="3977640"/>
            <a:ext cx="2514600" cy="1691640"/>
          </a:xfrm>
          <a:prstGeom prst="roundRect">
            <a:avLst>
              <a:gd name="adj" fmla="val 5405"/>
            </a:avLst>
          </a:prstGeom>
          <a:solidFill>
            <a:schemeClr val="bg1"/>
          </a:solidFill>
          <a:ln w="15875">
            <a:solidFill>
              <a:srgbClr val="0F766E"/>
            </a:solidFill>
            <a:prstDash val="solid"/>
          </a:ln>
        </p:spPr>
      </p:sp>
      <p:sp>
        <p:nvSpPr>
          <p:cNvPr id="19" name="box-text-298"/>
          <p:cNvSpPr txBox="1"/>
          <p:nvPr/>
        </p:nvSpPr>
        <p:spPr>
          <a:xfrm>
            <a:off x="621792" y="397764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Pods Ready, but requests to the Service fail</a:t>
            </a:r>
            <a:endParaRPr lang="en-US" sz="1400" dirty="0"/>
          </a:p>
        </p:txBody>
      </p:sp>
      <p:sp>
        <p:nvSpPr>
          <p:cNvPr id="20" name="arrow-299"/>
          <p:cNvSpPr/>
          <p:nvPr/>
        </p:nvSpPr>
        <p:spPr>
          <a:xfrm>
            <a:off x="3063240" y="4818888"/>
            <a:ext cx="320040" cy="914"/>
          </a:xfrm>
          <a:prstGeom prst="line">
            <a:avLst/>
          </a:prstGeom>
          <a:noFill/>
          <a:ln w="19050">
            <a:solidFill>
              <a:srgbClr val="5B6B7A"/>
            </a:solidFill>
            <a:prstDash val="solid"/>
            <a:tailEnd type="triangle"/>
          </a:ln>
        </p:spPr>
      </p:sp>
      <p:sp>
        <p:nvSpPr>
          <p:cNvPr id="21" name="box-300"/>
          <p:cNvSpPr/>
          <p:nvPr/>
        </p:nvSpPr>
        <p:spPr>
          <a:xfrm>
            <a:off x="3383280" y="3977640"/>
            <a:ext cx="2514600" cy="1691640"/>
          </a:xfrm>
          <a:prstGeom prst="roundRect">
            <a:avLst>
              <a:gd name="adj" fmla="val 5405"/>
            </a:avLst>
          </a:prstGeom>
          <a:solidFill>
            <a:schemeClr val="bg1"/>
          </a:solidFill>
          <a:ln w="15875">
            <a:solidFill>
              <a:srgbClr val="0F766E"/>
            </a:solidFill>
            <a:prstDash val="solid"/>
          </a:ln>
        </p:spPr>
      </p:sp>
      <p:sp>
        <p:nvSpPr>
          <p:cNvPr id="22" name="box-text-301"/>
          <p:cNvSpPr txBox="1"/>
          <p:nvPr/>
        </p:nvSpPr>
        <p:spPr>
          <a:xfrm>
            <a:off x="3456432" y="397764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EndpointSlice is empty; compare the selector with ‑‑show‑labels</a:t>
            </a:r>
            <a:endParaRPr lang="en-US" sz="1400" dirty="0"/>
          </a:p>
        </p:txBody>
      </p:sp>
      <p:sp>
        <p:nvSpPr>
          <p:cNvPr id="23" name="arrow-302"/>
          <p:cNvSpPr/>
          <p:nvPr/>
        </p:nvSpPr>
        <p:spPr>
          <a:xfrm>
            <a:off x="5897880" y="4818888"/>
            <a:ext cx="320040" cy="914"/>
          </a:xfrm>
          <a:prstGeom prst="line">
            <a:avLst/>
          </a:prstGeom>
          <a:noFill/>
          <a:ln w="19050">
            <a:solidFill>
              <a:srgbClr val="5B6B7A"/>
            </a:solidFill>
            <a:prstDash val="solid"/>
            <a:tailEnd type="triangle"/>
          </a:ln>
        </p:spPr>
      </p:sp>
      <p:sp>
        <p:nvSpPr>
          <p:cNvPr id="24" name="box-303"/>
          <p:cNvSpPr/>
          <p:nvPr/>
        </p:nvSpPr>
        <p:spPr>
          <a:xfrm>
            <a:off x="6217920" y="3977640"/>
            <a:ext cx="2514600" cy="1691640"/>
          </a:xfrm>
          <a:prstGeom prst="roundRect">
            <a:avLst>
              <a:gd name="adj" fmla="val 5405"/>
            </a:avLst>
          </a:prstGeom>
          <a:solidFill>
            <a:schemeClr val="bg2"/>
          </a:solidFill>
          <a:ln w="15875">
            <a:solidFill>
              <a:srgbClr val="0F766E"/>
            </a:solidFill>
            <a:prstDash val="solid"/>
          </a:ln>
        </p:spPr>
      </p:sp>
      <p:sp>
        <p:nvSpPr>
          <p:cNvPr id="25" name="box-text-304"/>
          <p:cNvSpPr txBox="1"/>
          <p:nvPr/>
        </p:nvSpPr>
        <p:spPr>
          <a:xfrm>
            <a:off x="6291072" y="3977640"/>
            <a:ext cx="2368296" cy="1691640"/>
          </a:xfrm>
          <a:prstGeom prst="rect">
            <a:avLst/>
          </a:prstGeom>
          <a:noFill/>
          <a:ln/>
        </p:spPr>
        <p:txBody>
          <a:bodyPr wrap="square" lIns="0" tIns="0" rIns="0" bIns="0" rtlCol="0" anchor="ctr"/>
          <a:lstStyle/>
          <a:p>
            <a:pPr algn="ctr" indent="0" marL="0">
              <a:buNone/>
            </a:pPr>
            <a:r>
              <a:rPr lang="en-US" sz="1400" b="1" dirty="0">
                <a:solidFill>
                  <a:schemeClr val="tx2"/>
                </a:solidFill>
              </a:rPr>
              <a:t>Service selects app=catalog‑wbe, matching no pod</a:t>
            </a:r>
            <a:endParaRPr lang="en-US" sz="1400" dirty="0"/>
          </a:p>
        </p:txBody>
      </p:sp>
      <p:sp>
        <p:nvSpPr>
          <p:cNvPr id="26" name="arrow-305"/>
          <p:cNvSpPr/>
          <p:nvPr/>
        </p:nvSpPr>
        <p:spPr>
          <a:xfrm>
            <a:off x="8732520" y="4818888"/>
            <a:ext cx="320040" cy="914"/>
          </a:xfrm>
          <a:prstGeom prst="line">
            <a:avLst/>
          </a:prstGeom>
          <a:noFill/>
          <a:ln w="19050">
            <a:solidFill>
              <a:srgbClr val="5B6B7A"/>
            </a:solidFill>
            <a:prstDash val="solid"/>
            <a:tailEnd type="triangle"/>
          </a:ln>
        </p:spPr>
      </p:sp>
      <p:sp>
        <p:nvSpPr>
          <p:cNvPr id="27" name="box-306"/>
          <p:cNvSpPr/>
          <p:nvPr/>
        </p:nvSpPr>
        <p:spPr>
          <a:xfrm>
            <a:off x="9052560" y="3977640"/>
            <a:ext cx="2514600" cy="1691640"/>
          </a:xfrm>
          <a:prstGeom prst="roundRect">
            <a:avLst>
              <a:gd name="adj" fmla="val 5405"/>
            </a:avLst>
          </a:prstGeom>
          <a:solidFill>
            <a:schemeClr val="bg1"/>
          </a:solidFill>
          <a:ln w="15875">
            <a:solidFill>
              <a:srgbClr val="0F766E"/>
            </a:solidFill>
            <a:prstDash val="solid"/>
          </a:ln>
        </p:spPr>
      </p:sp>
      <p:sp>
        <p:nvSpPr>
          <p:cNvPr id="28" name="box-text-307"/>
          <p:cNvSpPr txBox="1"/>
          <p:nvPr/>
        </p:nvSpPr>
        <p:spPr>
          <a:xfrm>
            <a:off x="9125712" y="3977640"/>
            <a:ext cx="2368296" cy="1691640"/>
          </a:xfrm>
          <a:prstGeom prst="rect">
            <a:avLst/>
          </a:prstGeom>
          <a:noFill/>
          <a:ln/>
        </p:spPr>
        <p:txBody>
          <a:bodyPr wrap="square" lIns="0" tIns="0" rIns="0" bIns="0" rtlCol="0" anchor="ctr"/>
          <a:lstStyle/>
          <a:p>
            <a:pPr algn="ctr" indent="0" marL="0">
              <a:buNone/>
            </a:pPr>
            <a:r>
              <a:rPr lang="en-US" sz="1400" b="1" dirty="0">
                <a:solidFill>
                  <a:schemeClr val="accent6"/>
                </a:solidFill>
              </a:rPr>
              <a:t>Patch the selector → 2 endpoints, HTTP 200</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What I learned</a:t>
            </a:r>
            <a:endParaRPr lang="en-US" sz="3600" dirty="0"/>
          </a:p>
        </p:txBody>
      </p:sp>
      <p:sp>
        <p:nvSpPr>
          <p:cNvPr id="3" name="badge-308"/>
          <p:cNvSpPr/>
          <p:nvPr/>
        </p:nvSpPr>
        <p:spPr>
          <a:xfrm>
            <a:off x="548640" y="1325880"/>
            <a:ext cx="603504" cy="603504"/>
          </a:xfrm>
          <a:prstGeom prst="ellipse">
            <a:avLst/>
          </a:prstGeom>
          <a:solidFill>
            <a:schemeClr val="accent1"/>
          </a:solidFill>
          <a:ln/>
        </p:spPr>
      </p:sp>
      <p:pic>
        <p:nvPicPr>
          <p:cNvPr id="4" name="badge-icon-309" descr="preencoded.png">    </p:cNvPr>
          <p:cNvPicPr>
            <a:picLocks noChangeAspect="1"/>
          </p:cNvPicPr>
          <p:nvPr/>
        </p:nvPicPr>
        <p:blipFill>
          <a:blip r:embed="rId1"/>
          <a:stretch>
            <a:fillRect/>
          </a:stretch>
        </p:blipFill>
        <p:spPr>
          <a:xfrm>
            <a:off x="681411" y="1458651"/>
            <a:ext cx="337962" cy="337962"/>
          </a:xfrm>
          <a:prstGeom prst="rect">
            <a:avLst/>
          </a:prstGeom>
        </p:spPr>
      </p:pic>
      <p:sp>
        <p:nvSpPr>
          <p:cNvPr id="5" name="lesson-title-310"/>
          <p:cNvSpPr txBox="1"/>
          <p:nvPr/>
        </p:nvSpPr>
        <p:spPr>
          <a:xfrm>
            <a:off x="1417320" y="1307592"/>
            <a:ext cx="10149840" cy="347472"/>
          </a:xfrm>
          <a:prstGeom prst="rect">
            <a:avLst/>
          </a:prstGeom>
          <a:noFill/>
          <a:ln/>
        </p:spPr>
        <p:txBody>
          <a:bodyPr wrap="square" lIns="0" tIns="0" rIns="0" bIns="0" rtlCol="0" anchor="t"/>
          <a:lstStyle/>
          <a:p>
            <a:pPr indent="0" marL="0">
              <a:buNone/>
            </a:pPr>
            <a:r>
              <a:rPr lang="en-US" sz="1800" b="1" dirty="0">
                <a:solidFill>
                  <a:schemeClr val="tx2"/>
                </a:solidFill>
              </a:rPr>
              <a:t>Deploying finds what tests miss</a:t>
            </a:r>
            <a:endParaRPr lang="en-US" sz="1800" dirty="0"/>
          </a:p>
        </p:txBody>
      </p:sp>
      <p:sp>
        <p:nvSpPr>
          <p:cNvPr id="6" name="lesson-text-311"/>
          <p:cNvSpPr txBox="1"/>
          <p:nvPr/>
        </p:nvSpPr>
        <p:spPr>
          <a:xfrm>
            <a:off x="1417320" y="1673352"/>
            <a:ext cx="10149840" cy="347472"/>
          </a:xfrm>
          <a:prstGeom prst="rect">
            <a:avLst/>
          </a:prstGeom>
          <a:noFill/>
          <a:ln/>
        </p:spPr>
        <p:txBody>
          <a:bodyPr wrap="square" lIns="0" tIns="0" rIns="0" bIns="0" rtlCol="0" anchor="t"/>
          <a:lstStyle/>
          <a:p>
            <a:pPr indent="0" marL="0">
              <a:buNone/>
            </a:pPr>
            <a:r>
              <a:rPr lang="en-US" sz="1400" dirty="0">
                <a:solidFill>
                  <a:schemeClr val="accent4"/>
                </a:solidFill>
              </a:rPr>
              <a:t>Migrations could not import the app inside the container - only docker compose caught it</a:t>
            </a:r>
            <a:endParaRPr lang="en-US" sz="1400" dirty="0"/>
          </a:p>
        </p:txBody>
      </p:sp>
      <p:sp>
        <p:nvSpPr>
          <p:cNvPr id="7" name="badge-312"/>
          <p:cNvSpPr/>
          <p:nvPr/>
        </p:nvSpPr>
        <p:spPr>
          <a:xfrm>
            <a:off x="548640" y="2313432"/>
            <a:ext cx="603504" cy="603504"/>
          </a:xfrm>
          <a:prstGeom prst="ellipse">
            <a:avLst/>
          </a:prstGeom>
          <a:solidFill>
            <a:schemeClr val="accent1"/>
          </a:solidFill>
          <a:ln/>
        </p:spPr>
      </p:sp>
      <p:pic>
        <p:nvPicPr>
          <p:cNvPr id="8" name="badge-icon-313" descr="preencoded.png">    </p:cNvPr>
          <p:cNvPicPr>
            <a:picLocks noChangeAspect="1"/>
          </p:cNvPicPr>
          <p:nvPr/>
        </p:nvPicPr>
        <p:blipFill>
          <a:blip r:embed="rId2"/>
          <a:stretch>
            <a:fillRect/>
          </a:stretch>
        </p:blipFill>
        <p:spPr>
          <a:xfrm>
            <a:off x="681411" y="2446203"/>
            <a:ext cx="337962" cy="337962"/>
          </a:xfrm>
          <a:prstGeom prst="rect">
            <a:avLst/>
          </a:prstGeom>
        </p:spPr>
      </p:pic>
      <p:sp>
        <p:nvSpPr>
          <p:cNvPr id="9" name="lesson-title-314"/>
          <p:cNvSpPr txBox="1"/>
          <p:nvPr/>
        </p:nvSpPr>
        <p:spPr>
          <a:xfrm>
            <a:off x="1417320" y="2295144"/>
            <a:ext cx="10149840" cy="347472"/>
          </a:xfrm>
          <a:prstGeom prst="rect">
            <a:avLst/>
          </a:prstGeom>
          <a:noFill/>
          <a:ln/>
        </p:spPr>
        <p:txBody>
          <a:bodyPr wrap="square" lIns="0" tIns="0" rIns="0" bIns="0" rtlCol="0" anchor="t"/>
          <a:lstStyle/>
          <a:p>
            <a:pPr indent="0" marL="0">
              <a:buNone/>
            </a:pPr>
            <a:r>
              <a:rPr lang="en-US" sz="1800" b="1" dirty="0">
                <a:solidFill>
                  <a:schemeClr val="tx2"/>
                </a:solidFill>
              </a:rPr>
              <a:t>Test the gates too</a:t>
            </a:r>
            <a:endParaRPr lang="en-US" sz="1800" dirty="0"/>
          </a:p>
        </p:txBody>
      </p:sp>
      <p:sp>
        <p:nvSpPr>
          <p:cNvPr id="10" name="lesson-text-315"/>
          <p:cNvSpPr txBox="1"/>
          <p:nvPr/>
        </p:nvSpPr>
        <p:spPr>
          <a:xfrm>
            <a:off x="1417320" y="2660904"/>
            <a:ext cx="10149840" cy="347472"/>
          </a:xfrm>
          <a:prstGeom prst="rect">
            <a:avLst/>
          </a:prstGeom>
          <a:noFill/>
          <a:ln/>
        </p:spPr>
        <p:txBody>
          <a:bodyPr wrap="square" lIns="0" tIns="0" rIns="0" bIns="0" rtlCol="0" anchor="t"/>
          <a:lstStyle/>
          <a:p>
            <a:pPr indent="0" marL="0">
              <a:buNone/>
            </a:pPr>
            <a:r>
              <a:rPr lang="en-US" sz="1400" dirty="0">
                <a:solidFill>
                  <a:schemeClr val="accent4"/>
                </a:solidFill>
              </a:rPr>
              <a:t>Trivy really blocked a build on a fixable HIGH CVE until the image was patched</a:t>
            </a:r>
            <a:endParaRPr lang="en-US" sz="1400" dirty="0"/>
          </a:p>
        </p:txBody>
      </p:sp>
      <p:sp>
        <p:nvSpPr>
          <p:cNvPr id="11" name="badge-316"/>
          <p:cNvSpPr/>
          <p:nvPr/>
        </p:nvSpPr>
        <p:spPr>
          <a:xfrm>
            <a:off x="548640" y="3300984"/>
            <a:ext cx="603504" cy="603504"/>
          </a:xfrm>
          <a:prstGeom prst="ellipse">
            <a:avLst/>
          </a:prstGeom>
          <a:solidFill>
            <a:schemeClr val="accent1"/>
          </a:solidFill>
          <a:ln/>
        </p:spPr>
      </p:sp>
      <p:pic>
        <p:nvPicPr>
          <p:cNvPr id="12" name="badge-icon-317" descr="preencoded.png">    </p:cNvPr>
          <p:cNvPicPr>
            <a:picLocks noChangeAspect="1"/>
          </p:cNvPicPr>
          <p:nvPr/>
        </p:nvPicPr>
        <p:blipFill>
          <a:blip r:embed="rId3"/>
          <a:stretch>
            <a:fillRect/>
          </a:stretch>
        </p:blipFill>
        <p:spPr>
          <a:xfrm>
            <a:off x="681411" y="3433755"/>
            <a:ext cx="337962" cy="337962"/>
          </a:xfrm>
          <a:prstGeom prst="rect">
            <a:avLst/>
          </a:prstGeom>
        </p:spPr>
      </p:pic>
      <p:sp>
        <p:nvSpPr>
          <p:cNvPr id="13" name="lesson-title-318"/>
          <p:cNvSpPr txBox="1"/>
          <p:nvPr/>
        </p:nvSpPr>
        <p:spPr>
          <a:xfrm>
            <a:off x="1417320" y="3282696"/>
            <a:ext cx="10149840" cy="347472"/>
          </a:xfrm>
          <a:prstGeom prst="rect">
            <a:avLst/>
          </a:prstGeom>
          <a:noFill/>
          <a:ln/>
        </p:spPr>
        <p:txBody>
          <a:bodyPr wrap="square" lIns="0" tIns="0" rIns="0" bIns="0" rtlCol="0" anchor="t"/>
          <a:lstStyle/>
          <a:p>
            <a:pPr indent="0" marL="0">
              <a:buNone/>
            </a:pPr>
            <a:r>
              <a:rPr lang="en-US" sz="1800" b="1" dirty="0">
                <a:solidFill>
                  <a:schemeClr val="tx2"/>
                </a:solidFill>
              </a:rPr>
              <a:t>Metrics need care</a:t>
            </a:r>
            <a:endParaRPr lang="en-US" sz="1800" dirty="0"/>
          </a:p>
        </p:txBody>
      </p:sp>
      <p:sp>
        <p:nvSpPr>
          <p:cNvPr id="14" name="lesson-text-319"/>
          <p:cNvSpPr txBox="1"/>
          <p:nvPr/>
        </p:nvSpPr>
        <p:spPr>
          <a:xfrm>
            <a:off x="1417320" y="3648456"/>
            <a:ext cx="10149840" cy="347472"/>
          </a:xfrm>
          <a:prstGeom prst="rect">
            <a:avLst/>
          </a:prstGeom>
          <a:noFill/>
          <a:ln/>
        </p:spPr>
        <p:txBody>
          <a:bodyPr wrap="square" lIns="0" tIns="0" rIns="0" bIns="0" rtlCol="0" anchor="t"/>
          <a:lstStyle/>
          <a:p>
            <a:pPr indent="0" marL="0">
              <a:buNone/>
            </a:pPr>
            <a:r>
              <a:rPr lang="en-US" sz="1400" dirty="0">
                <a:solidFill>
                  <a:schemeClr val="accent4"/>
                </a:solidFill>
              </a:rPr>
              <a:t>Default 0.1 s histogram buckets made p95 meaningless; millisecond buckets fixed it</a:t>
            </a:r>
            <a:endParaRPr lang="en-US" sz="1400" dirty="0"/>
          </a:p>
        </p:txBody>
      </p:sp>
      <p:sp>
        <p:nvSpPr>
          <p:cNvPr id="15" name="badge-320"/>
          <p:cNvSpPr/>
          <p:nvPr/>
        </p:nvSpPr>
        <p:spPr>
          <a:xfrm>
            <a:off x="548640" y="4288536"/>
            <a:ext cx="603504" cy="603504"/>
          </a:xfrm>
          <a:prstGeom prst="ellipse">
            <a:avLst/>
          </a:prstGeom>
          <a:solidFill>
            <a:schemeClr val="accent1"/>
          </a:solidFill>
          <a:ln/>
        </p:spPr>
      </p:sp>
      <p:pic>
        <p:nvPicPr>
          <p:cNvPr id="16" name="badge-icon-321" descr="preencoded.png">    </p:cNvPr>
          <p:cNvPicPr>
            <a:picLocks noChangeAspect="1"/>
          </p:cNvPicPr>
          <p:nvPr/>
        </p:nvPicPr>
        <p:blipFill>
          <a:blip r:embed="rId4"/>
          <a:stretch>
            <a:fillRect/>
          </a:stretch>
        </p:blipFill>
        <p:spPr>
          <a:xfrm>
            <a:off x="681411" y="4421307"/>
            <a:ext cx="337962" cy="337962"/>
          </a:xfrm>
          <a:prstGeom prst="rect">
            <a:avLst/>
          </a:prstGeom>
        </p:spPr>
      </p:pic>
      <p:sp>
        <p:nvSpPr>
          <p:cNvPr id="17" name="lesson-title-322"/>
          <p:cNvSpPr txBox="1"/>
          <p:nvPr/>
        </p:nvSpPr>
        <p:spPr>
          <a:xfrm>
            <a:off x="1417320" y="4270248"/>
            <a:ext cx="10149840" cy="347472"/>
          </a:xfrm>
          <a:prstGeom prst="rect">
            <a:avLst/>
          </a:prstGeom>
          <a:noFill/>
          <a:ln/>
        </p:spPr>
        <p:txBody>
          <a:bodyPr wrap="square" lIns="0" tIns="0" rIns="0" bIns="0" rtlCol="0" anchor="t"/>
          <a:lstStyle/>
          <a:p>
            <a:pPr indent="0" marL="0">
              <a:buNone/>
            </a:pPr>
            <a:r>
              <a:rPr lang="en-US" sz="1800" b="1" dirty="0">
                <a:solidFill>
                  <a:schemeClr val="tx2"/>
                </a:solidFill>
              </a:rPr>
              <a:t>Check limits before apply</a:t>
            </a:r>
            <a:endParaRPr lang="en-US" sz="1800" dirty="0"/>
          </a:p>
        </p:txBody>
      </p:sp>
      <p:sp>
        <p:nvSpPr>
          <p:cNvPr id="18" name="lesson-text-323"/>
          <p:cNvSpPr txBox="1"/>
          <p:nvPr/>
        </p:nvSpPr>
        <p:spPr>
          <a:xfrm>
            <a:off x="1417320" y="4636008"/>
            <a:ext cx="10149840" cy="347472"/>
          </a:xfrm>
          <a:prstGeom prst="rect">
            <a:avLst/>
          </a:prstGeom>
          <a:noFill/>
          <a:ln/>
        </p:spPr>
        <p:txBody>
          <a:bodyPr wrap="square" lIns="0" tIns="0" rIns="0" bIns="0" rtlCol="0" anchor="t"/>
          <a:lstStyle/>
          <a:p>
            <a:pPr indent="0" marL="0">
              <a:buNone/>
            </a:pPr>
            <a:r>
              <a:rPr lang="en-US" sz="1400" dirty="0">
                <a:solidFill>
                  <a:schemeClr val="accent4"/>
                </a:solidFill>
              </a:rPr>
              <a:t>A shared account had 5 of 5 Elastic IPs used, so the NAT gateway became optional</a:t>
            </a:r>
            <a:endParaRPr lang="en-US" sz="1400" dirty="0"/>
          </a:p>
        </p:txBody>
      </p:sp>
      <p:sp>
        <p:nvSpPr>
          <p:cNvPr id="19" name="badge-324"/>
          <p:cNvSpPr/>
          <p:nvPr/>
        </p:nvSpPr>
        <p:spPr>
          <a:xfrm>
            <a:off x="548640" y="5276088"/>
            <a:ext cx="603504" cy="603504"/>
          </a:xfrm>
          <a:prstGeom prst="ellipse">
            <a:avLst/>
          </a:prstGeom>
          <a:solidFill>
            <a:schemeClr val="accent1"/>
          </a:solidFill>
          <a:ln/>
        </p:spPr>
      </p:sp>
      <p:pic>
        <p:nvPicPr>
          <p:cNvPr id="20" name="badge-icon-325" descr="preencoded.png">    </p:cNvPr>
          <p:cNvPicPr>
            <a:picLocks noChangeAspect="1"/>
          </p:cNvPicPr>
          <p:nvPr/>
        </p:nvPicPr>
        <p:blipFill>
          <a:blip r:embed="rId5"/>
          <a:stretch>
            <a:fillRect/>
          </a:stretch>
        </p:blipFill>
        <p:spPr>
          <a:xfrm>
            <a:off x="681411" y="5408859"/>
            <a:ext cx="337962" cy="337962"/>
          </a:xfrm>
          <a:prstGeom prst="rect">
            <a:avLst/>
          </a:prstGeom>
        </p:spPr>
      </p:pic>
      <p:sp>
        <p:nvSpPr>
          <p:cNvPr id="21" name="lesson-title-326"/>
          <p:cNvSpPr txBox="1"/>
          <p:nvPr/>
        </p:nvSpPr>
        <p:spPr>
          <a:xfrm>
            <a:off x="1417320" y="5257800"/>
            <a:ext cx="10149840" cy="347472"/>
          </a:xfrm>
          <a:prstGeom prst="rect">
            <a:avLst/>
          </a:prstGeom>
          <a:noFill/>
          <a:ln/>
        </p:spPr>
        <p:txBody>
          <a:bodyPr wrap="square" lIns="0" tIns="0" rIns="0" bIns="0" rtlCol="0" anchor="t"/>
          <a:lstStyle/>
          <a:p>
            <a:pPr indent="0" marL="0">
              <a:buNone/>
            </a:pPr>
            <a:r>
              <a:rPr lang="en-US" sz="1800" b="1" dirty="0">
                <a:solidFill>
                  <a:schemeClr val="tx2"/>
                </a:solidFill>
              </a:rPr>
              <a:t>Autoscaling has a ceiling</a:t>
            </a:r>
            <a:endParaRPr lang="en-US" sz="1800" dirty="0"/>
          </a:p>
        </p:txBody>
      </p:sp>
      <p:sp>
        <p:nvSpPr>
          <p:cNvPr id="22" name="lesson-text-327"/>
          <p:cNvSpPr txBox="1"/>
          <p:nvPr/>
        </p:nvSpPr>
        <p:spPr>
          <a:xfrm>
            <a:off x="1417320" y="5623560"/>
            <a:ext cx="10149840" cy="347472"/>
          </a:xfrm>
          <a:prstGeom prst="rect">
            <a:avLst/>
          </a:prstGeom>
          <a:noFill/>
          <a:ln/>
        </p:spPr>
        <p:txBody>
          <a:bodyPr wrap="square" lIns="0" tIns="0" rIns="0" bIns="0" rtlCol="0" anchor="t"/>
          <a:lstStyle/>
          <a:p>
            <a:pPr indent="0" marL="0">
              <a:buNone/>
            </a:pPr>
            <a:r>
              <a:rPr lang="en-US" sz="1400" dirty="0">
                <a:solidFill>
                  <a:schemeClr val="accent4"/>
                </a:solidFill>
              </a:rPr>
              <a:t>The HPA adds pods, not nodes - at 6 pods the node was at 96% CPU</a:t>
            </a:r>
            <a:endParaRPr lang="en-US" sz="1400" dirty="0"/>
          </a:p>
        </p:txBody>
      </p:sp>
      <p:sp>
        <p:nvSpPr>
          <p:cNvPr id="25" name="Slide Number Placeholder 0"/>
          <p:cNvSpPr>
            <a:spLocks noGrp="1"/>
          </p:cNvSpPr>
          <p:nvPr>
            <p:ph type="sldNum" sz="quarter" idx="4294967295"/>
          </p:nvPr>
        </p:nvSpPr>
        <p:spPr>
          <a:xfrm>
            <a:off x="1115568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328"/>
          <p:cNvSpPr txBox="1"/>
          <p:nvPr/>
        </p:nvSpPr>
        <p:spPr>
          <a:xfrm>
            <a:off x="731520" y="1371600"/>
            <a:ext cx="63093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LIVE DEMO</a:t>
            </a:r>
            <a:endParaRPr lang="en-US" sz="1400" dirty="0"/>
          </a:p>
        </p:txBody>
      </p:sp>
      <p:sp>
        <p:nvSpPr>
          <p:cNvPr id="3" name="Text 0"/>
          <p:cNvSpPr/>
          <p:nvPr>
            <p:ph idx="100" type="title" hasCustomPrompt="1"/>
          </p:nvPr>
        </p:nvSpPr>
        <p:spPr>
          <a:xfrm>
            <a:off x="731520" y="1828800"/>
            <a:ext cx="6309360" cy="1188720"/>
          </a:xfrm>
          <a:prstGeom prst="rect">
            <a:avLst/>
          </a:prstGeom>
          <a:noFill/>
          <a:ln/>
        </p:spPr>
        <p:txBody>
          <a:bodyPr wrap="square" lIns="0" tIns="0" rIns="0" bIns="0" rtlCol="0" anchor="b"/>
          <a:lstStyle/>
          <a:p>
            <a:pPr algn="l" indent="0" marL="0">
              <a:buNone/>
            </a:pPr>
            <a:r>
              <a:rPr lang="en-US" sz="6000" b="1" dirty="0">
                <a:solidFill>
                  <a:schemeClr val="bg1"/>
                </a:solidFill>
              </a:rPr>
              <a:t>Thank you</a:t>
            </a:r>
            <a:endParaRPr lang="en-US" sz="6000" dirty="0"/>
          </a:p>
        </p:txBody>
      </p:sp>
      <p:sp>
        <p:nvSpPr>
          <p:cNvPr id="4" name="Text 0"/>
          <p:cNvSpPr/>
          <p:nvPr>
            <p:ph idx="101" type="body" hasCustomPrompt="1"/>
          </p:nvPr>
        </p:nvSpPr>
        <p:spPr>
          <a:xfrm>
            <a:off x="731520" y="3154680"/>
            <a:ext cx="6035040" cy="1005840"/>
          </a:xfrm>
          <a:prstGeom prst="rect">
            <a:avLst/>
          </a:prstGeom>
          <a:noFill/>
          <a:ln/>
        </p:spPr>
        <p:txBody>
          <a:bodyPr wrap="square" lIns="0" tIns="0" rIns="0" bIns="0" rtlCol="0" anchor="t"/>
          <a:lstStyle/>
          <a:p>
            <a:pPr indent="0" marL="0">
              <a:buNone/>
            </a:pPr>
            <a:r>
              <a:rPr lang="en-US" sz="2200" dirty="0">
                <a:solidFill>
                  <a:schemeClr val="accent2"/>
                </a:solidFill>
              </a:rPr>
              <a:t>Commit a change → watch the pipeline → new image in GHCR → helm upgrade → refresh the app</a:t>
            </a:r>
            <a:endParaRPr lang="en-US" sz="2200" dirty="0"/>
          </a:p>
        </p:txBody>
      </p:sp>
      <p:sp>
        <p:nvSpPr>
          <p:cNvPr id="5" name="name-329"/>
          <p:cNvSpPr txBox="1"/>
          <p:nvPr/>
        </p:nvSpPr>
        <p:spPr>
          <a:xfrm>
            <a:off x="731520" y="4892040"/>
            <a:ext cx="5486400" cy="457200"/>
          </a:xfrm>
          <a:prstGeom prst="rect">
            <a:avLst/>
          </a:prstGeom>
          <a:noFill/>
          <a:ln/>
        </p:spPr>
        <p:txBody>
          <a:bodyPr wrap="square" lIns="0" tIns="0" rIns="0" bIns="0" rtlCol="0" anchor="t"/>
          <a:lstStyle/>
          <a:p>
            <a:pPr indent="0" marL="0">
              <a:buNone/>
            </a:pPr>
            <a:r>
              <a:rPr lang="en-US" sz="2600" b="1" dirty="0">
                <a:solidFill>
                  <a:schemeClr val="bg1"/>
                </a:solidFill>
                <a:latin typeface="Arial" pitchFamily="34" charset="0"/>
                <a:ea typeface="Arial" pitchFamily="34" charset="-122"/>
                <a:cs typeface="Arial" pitchFamily="34" charset="-120"/>
              </a:rPr>
              <a:t>Lakshya Mewara</a:t>
            </a:r>
            <a:endParaRPr lang="en-US" sz="2600" dirty="0"/>
          </a:p>
        </p:txBody>
      </p:sp>
      <p:sp>
        <p:nvSpPr>
          <p:cNvPr id="6" name="enrolment-330"/>
          <p:cNvSpPr txBox="1"/>
          <p:nvPr/>
        </p:nvSpPr>
        <p:spPr>
          <a:xfrm>
            <a:off x="731520" y="5394960"/>
            <a:ext cx="5486400" cy="365760"/>
          </a:xfrm>
          <a:prstGeom prst="rect">
            <a:avLst/>
          </a:prstGeom>
          <a:noFill/>
          <a:ln/>
        </p:spPr>
        <p:txBody>
          <a:bodyPr wrap="square" lIns="0" tIns="0" rIns="0" bIns="0" rtlCol="0" anchor="t"/>
          <a:lstStyle/>
          <a:p>
            <a:pPr indent="0" marL="0">
              <a:buNone/>
            </a:pPr>
            <a:r>
              <a:rPr lang="en-US" sz="1600" dirty="0">
                <a:solidFill>
                  <a:schemeClr val="bg2"/>
                </a:solidFill>
              </a:rPr>
              <a:t>Enrollment 24BCS10290</a:t>
            </a:r>
            <a:endParaRPr lang="en-US" sz="1600" dirty="0"/>
          </a:p>
        </p:txBody>
      </p:sp>
      <p:sp>
        <p:nvSpPr>
          <p:cNvPr id="7" name="badge-331"/>
          <p:cNvSpPr/>
          <p:nvPr/>
        </p:nvSpPr>
        <p:spPr>
          <a:xfrm>
            <a:off x="7178040" y="1920240"/>
            <a:ext cx="822960" cy="822960"/>
          </a:xfrm>
          <a:prstGeom prst="ellipse">
            <a:avLst/>
          </a:prstGeom>
          <a:solidFill>
            <a:schemeClr val="accent1"/>
          </a:solidFill>
          <a:ln/>
        </p:spPr>
      </p:sp>
      <p:pic>
        <p:nvPicPr>
          <p:cNvPr id="8" name="badge-icon-332" descr="preencoded.png">    </p:cNvPr>
          <p:cNvPicPr>
            <a:picLocks noChangeAspect="1"/>
          </p:cNvPicPr>
          <p:nvPr/>
        </p:nvPicPr>
        <p:blipFill>
          <a:blip r:embed="rId1"/>
          <a:stretch>
            <a:fillRect/>
          </a:stretch>
        </p:blipFill>
        <p:spPr>
          <a:xfrm>
            <a:off x="7359091" y="2101291"/>
            <a:ext cx="460858" cy="460858"/>
          </a:xfrm>
          <a:prstGeom prst="rect">
            <a:avLst/>
          </a:prstGeom>
        </p:spPr>
      </p:pic>
      <p:sp>
        <p:nvSpPr>
          <p:cNvPr id="9" name="repo-head-333"/>
          <p:cNvSpPr txBox="1"/>
          <p:nvPr/>
        </p:nvSpPr>
        <p:spPr>
          <a:xfrm>
            <a:off x="8138160" y="1920240"/>
            <a:ext cx="3611880" cy="365760"/>
          </a:xfrm>
          <a:prstGeom prst="rect">
            <a:avLst/>
          </a:prstGeom>
          <a:noFill/>
          <a:ln/>
        </p:spPr>
        <p:txBody>
          <a:bodyPr wrap="square" lIns="0" tIns="0" rIns="0" bIns="0" rtlCol="0" anchor="t"/>
          <a:lstStyle/>
          <a:p>
            <a:pPr indent="0" marL="0">
              <a:buNone/>
            </a:pPr>
            <a:r>
              <a:rPr lang="en-US" sz="1800" b="1" dirty="0">
                <a:solidFill>
                  <a:schemeClr val="bg1"/>
                </a:solidFill>
              </a:rPr>
              <a:t>Project repository</a:t>
            </a:r>
            <a:endParaRPr lang="en-US" sz="1800" dirty="0"/>
          </a:p>
        </p:txBody>
      </p:sp>
      <p:sp>
        <p:nvSpPr>
          <p:cNvPr id="10" name="repo-link"/>
          <p:cNvSpPr txBox="1"/>
          <p:nvPr/>
        </p:nvSpPr>
        <p:spPr>
          <a:xfrm>
            <a:off x="8138160" y="2331720"/>
            <a:ext cx="3611880" cy="685800"/>
          </a:xfrm>
          <a:prstGeom prst="rect">
            <a:avLst/>
          </a:prstGeom>
          <a:noFill/>
          <a:ln/>
        </p:spPr>
        <p:txBody>
          <a:bodyPr wrap="square" lIns="0" tIns="0" rIns="0" bIns="0" rtlCol="0" anchor="t"/>
          <a:lstStyle/>
          <a:p>
            <a:pPr indent="0" marL="0">
              <a:buNone/>
            </a:pPr>
            <a:r>
              <a:rPr lang="en-US" sz="13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github.com/LAKSHYAMEWARA0025/devops‑heros</a:t>
            </a:r>
            <a:endParaRPr lang="en-US" sz="1300" dirty="0"/>
          </a:p>
          <a:p>
            <a:pPr indent="0" marL="0">
              <a:buNone/>
            </a:pPr>
            <a:r>
              <a:rPr lang="en-US" sz="1300" u="sng" dirty="0">
                <a:solidFill>
                  <a:schemeClr val="accent2"/>
                </a:solidFill>
                <a:hlinkClick r:id="rId3" invalidUrl="" action="" tgtFrame="" tooltip="" history="1" highlightClick="0" endSnd="0">
                  <a:extLst>
                    <a:ext uri="{A12FA001-AC4F-418D-AE19-62706E023703}">
                      <ahyp:hlinkClr xmlns:ahyp="http://schemas.microsoft.com/office/drawing/2018/hyperlinkcolor" val="tx"/>
                    </a:ext>
                  </a:extLst>
                </a:hlinkClick>
              </a:rPr>
              <a:t>/tree/main/session21‑capstone</a:t>
            </a:r>
            <a:endParaRPr lang="en-US" sz="1300" dirty="0"/>
          </a:p>
        </p:txBody>
      </p:sp>
      <p:sp>
        <p:nvSpPr>
          <p:cNvPr id="11" name="repo-note-334"/>
          <p:cNvSpPr txBox="1"/>
          <p:nvPr/>
        </p:nvSpPr>
        <p:spPr>
          <a:xfrm>
            <a:off x="8138160" y="3154680"/>
            <a:ext cx="3611880" cy="548640"/>
          </a:xfrm>
          <a:prstGeom prst="rect">
            <a:avLst/>
          </a:prstGeom>
          <a:noFill/>
          <a:ln/>
        </p:spPr>
        <p:txBody>
          <a:bodyPr wrap="square" lIns="0" tIns="0" rIns="0" bIns="0" rtlCol="0" anchor="t"/>
          <a:lstStyle/>
          <a:p>
            <a:pPr indent="0" marL="0">
              <a:buNone/>
            </a:pPr>
            <a:r>
              <a:rPr lang="en-US" sz="1400" dirty="0">
                <a:solidFill>
                  <a:schemeClr val="bg2"/>
                </a:solidFill>
              </a:rPr>
              <a:t>README: setup, evidence and the full demo script</a:t>
            </a:r>
            <a:endParaRPr lang="en-US" sz="1400" dirty="0"/>
          </a:p>
        </p:txBody>
      </p:sp>
    </p:spTree>
  </p:cSld>
  <p:clrMapOvr>
    <a:masterClrMapping/>
  </p:clrMapOvr>
</p:sld>
</file>

<file path=ppt/theme/theme1.xml><?xml version="1.0" encoding="utf-8"?>
<a:theme xmlns:a="http://schemas.openxmlformats.org/drawingml/2006/main" name="StockPilot">
  <a:themeElements>
    <a:clrScheme name="StockPilot">
      <a:dk1>
        <a:srgbClr val="14202B"/>
      </a:dk1>
      <a:lt1>
        <a:srgbClr val="FFFFFF"/>
      </a:lt1>
      <a:dk2>
        <a:srgbClr val="0F1C24"/>
      </a:dk2>
      <a:lt2>
        <a:srgbClr val="EEF3F5"/>
      </a:lt2>
      <a:accent1>
        <a:srgbClr val="0F766E"/>
      </a:accent1>
      <a:accent2>
        <a:srgbClr val="2DD4BF"/>
      </a:accent2>
      <a:accent3>
        <a:srgbClr val="B45309"/>
      </a:accent3>
      <a:accent4>
        <a:srgbClr val="5B6B7A"/>
      </a:accent4>
      <a:accent5>
        <a:srgbClr val="B91C1C"/>
      </a:accent5>
      <a:accent6>
        <a:srgbClr val="15803D"/>
      </a:accent6>
      <a:hlink>
        <a:srgbClr val="0F766E"/>
      </a:hlink>
      <a:folHlink>
        <a:srgbClr val="115E59"/>
      </a:folHlink>
    </a:clrScheme>
    <a:fontScheme name="StockPilo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Lakshya Mewara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DevOps Final Capstone</dc:title>
  <dc:subject>Session 21 DevOps capstone: StockPilot inventory management</dc:subject>
  <dc:creator>Lakshya Mewara</dc:creator>
  <cp:lastModifiedBy>Lakshya Mewara</cp:lastModifiedBy>
  <cp:revision>1</cp:revision>
  <dcterms:created xsi:type="dcterms:W3CDTF">2026-10-22T10:13:59Z</dcterms:created>
  <dcterms:modified xsi:type="dcterms:W3CDTF">2026-10-22T10:13:59Z</dcterms:modified>
</cp:coreProperties>
</file>